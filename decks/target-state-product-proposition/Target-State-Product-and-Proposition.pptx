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frame. This is a target-state view, not a project plan. The whole story is two elements: (1) the retail product suite we sell, and (2) how we show up in the market. Everything today builds to a single decision for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setup. Left is honest about today: sound, trusted, but undifferentiated. Right is the destination. The three numerals preview the architecture of the whole deck — two elements, five members, three horizons.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for the rest of the deck. Two elements down the page; two lenses across the bottom. Inside Element 1 we look first at the on-sale products, then re-read the same suite through the five member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Element 1 divider. We now go inside the product suite: first the on-sale catalogue, then the same suite re-read through the five member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inventory. Six need-based groups covering everything on sale today. Grouping by member need (not product type) is deliberate — it sets up the coverage read a few slides on. Replace the illustrative contents with the live catalogue.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conflict inside Element 1. We are genuinely strong on the basics — say so with confidence. But the edges are thin: segment products, integrated wealth and advice, values-based lending, and origination speed. The tint panel gives the gaps quiet weight without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lens. Same suite, now read through five life stages. Each segment's centre of gravity differs, which is exactly why a one-size catalogue leaves gaps. This slide sets up the coverage matrix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slide. Read down a column to see how completely we serve one member; read across a row to see a product's reach. The coverage bars at the foot turn the pattern into a number — Community and the early life stages are least well served, and wealth &amp; advice is the weakest row. This is the case for closing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Resolution of Element 1. Four tests a complete suite must pass: complete, connected, digital-native, purpose-built. The last two are where a mutual can genuinely lead rather than follow. This closes the product half of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Element 2 divider. From what we sell to how we show up. This is the harder, more valuable half — the proposition that makes the suite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conflict of Element 2, stated plainly. If we are indistinguishable, the only lever left is price — and a member-owned balance sheet cannot win a race to the bottom. The left column diagnoses the trap; the pull-quote lands the stakes emotionally.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pivot. Same balance sheet, two ways to present it. The left column is where we are; the right is the choice. The key line is the caption: the products need not change — the proposition wrapped around them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peak. Four pillars that only a member-owned bank can claim credibly: member value, trusted advice, purpose and community, effortless service. The asymmetric layout — thesis on the left, pillars carried by big brass numerals on the right — deliberately breaks the grid rhythm to mark this as the hero of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Synthesis. The two elements resolved into one page and back onto the dark ground of the title — the visual bookend. The italic brass line is the thesis of the entire deck: the suite earns the right to compete; the proposition is why members choose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path. Fix the basics, then differentiate, then lead. Horizon 1 is table stakes and fundable now; Horizons 2 and 3 are where the mutual model becomes the edge. Sequencing is illustrative — confirm scope and timing with the executive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close. Three decisions, not a discussion: endorse the target state, fund the Horizon 1 gap-closing, and commit to competing on member value. Return to the dark ground and the ampersand motif to bookend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0" y="91440"/>
            <a:ext cx="6126480" cy="6675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0" dirty="0">
                <a:solidFill>
                  <a:srgbClr val="1C322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</a:t>
            </a:r>
            <a:endParaRPr lang="en-US" sz="46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  ·  EXECUTIVE BRIEFING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86384" y="228600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target state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 product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 proposition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our retail product suite stands today — and how we intend to show up in the market as a member-owned bank.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8704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pPr indent="0" marL="0">
              <a:buNone/>
            </a:pPr>
            <a:r>
              <a:rPr lang="en-US" sz="1350" dirty="0">
                <a:solidFill>
                  <a:srgbClr val="EF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retail product suite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9963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pPr indent="0" marL="0">
              <a:buNone/>
            </a:pPr>
            <a:r>
              <a:rPr lang="en-US" sz="1350" dirty="0">
                <a:solidFill>
                  <a:srgbClr val="EF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How we show up in the market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38160" y="641908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&amp; Leadership Team  ·  [Month Year]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Where we are, and where we're headed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4617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sound but largely undifferentiated retail bank — competing on rate and feature parity, with a suite that covers the basics.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989320" y="164592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13221C"/>
          </a:solidFill>
          <a:ln/>
        </p:spPr>
      </p:sp>
      <p:sp>
        <p:nvSpPr>
          <p:cNvPr id="7" name="Text 5"/>
          <p:cNvSpPr/>
          <p:nvPr/>
        </p:nvSpPr>
        <p:spPr>
          <a:xfrm>
            <a:off x="635508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286000"/>
            <a:ext cx="4663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member-led bank with a complete, digitally-native suite and a proposition that is unmistakably ours — value returned to members, not extracted from them.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4343400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572000"/>
            <a:ext cx="10972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1965960" y="4681728"/>
            <a:ext cx="21854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frame the target state — the product suite, and how we show up in the market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15968" y="4709160"/>
            <a:ext cx="12802" cy="12344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3" name="Text 11"/>
          <p:cNvSpPr/>
          <p:nvPr/>
        </p:nvSpPr>
        <p:spPr>
          <a:xfrm>
            <a:off x="4334256" y="4572000"/>
            <a:ext cx="10972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5477256" y="4681728"/>
            <a:ext cx="21854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types served across the full life-stage journey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27264" y="4709160"/>
            <a:ext cx="12802" cy="12344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6" name="Text 14"/>
          <p:cNvSpPr/>
          <p:nvPr/>
        </p:nvSpPr>
        <p:spPr>
          <a:xfrm>
            <a:off x="7845552" y="4572000"/>
            <a:ext cx="10972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6600" dirty="0"/>
          </a:p>
        </p:txBody>
      </p:sp>
      <p:sp>
        <p:nvSpPr>
          <p:cNvPr id="17" name="Text 15"/>
          <p:cNvSpPr/>
          <p:nvPr/>
        </p:nvSpPr>
        <p:spPr>
          <a:xfrm>
            <a:off x="8988552" y="4681728"/>
            <a:ext cx="21854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horizons to move from vanilla banking to a differentiated leader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elements, seen through two lenses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7400" dirty="0"/>
          </a:p>
        </p:txBody>
      </p:sp>
      <p:sp>
        <p:nvSpPr>
          <p:cNvPr id="5" name="Text 3"/>
          <p:cNvSpPr/>
          <p:nvPr/>
        </p:nvSpPr>
        <p:spPr>
          <a:xfrm>
            <a:off x="841248" y="3246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retail product suite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41248" y="384048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 like as a product house — the on-sale catalogue, and how completely it serves each member type.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263640" y="201168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7400" dirty="0"/>
          </a:p>
        </p:txBody>
      </p:sp>
      <p:sp>
        <p:nvSpPr>
          <p:cNvPr id="8" name="Text 6"/>
          <p:cNvSpPr/>
          <p:nvPr/>
        </p:nvSpPr>
        <p:spPr>
          <a:xfrm>
            <a:off x="6327648" y="3246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we show up in the market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27648" y="384048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proposition — moving from vanilla, basic banking to a distinctive, member-owned point of view.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35040" y="2057400"/>
            <a:ext cx="12802" cy="278892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5212080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394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THROUGH TWO LENSES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574243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On-sale products</a:t>
            </a:r>
            <a:pPr indent="0" marL="0">
              <a:buNone/>
            </a:pPr>
            <a:r>
              <a:rPr lang="en-US" sz="130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catalogue as it stands today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57424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Member types</a:t>
            </a:r>
            <a:pPr indent="0" marL="0">
              <a:buNone/>
            </a:pPr>
            <a:r>
              <a:rPr lang="en-US" sz="130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how it serves each life stage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822960"/>
            <a:ext cx="6400800" cy="5212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C322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86384" y="2560320"/>
            <a:ext cx="8686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retail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product suite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 like as a product house — the on-sale catalogue, and how completely it serves every member type.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·  THE PRODUCT SUITE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Our on-sale product catalogue today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member can buy from us right now, grouped by need — the starting point for the target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209397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5856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89888" y="219456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Everyday banking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89888" y="269748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accounts · Offset · Debit &amp; digital wallet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73952" y="209397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2" y="225856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40880" y="219456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Savings &amp; deposits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040880" y="269748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saver · Term deposits · Kids &amp; goal saver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32841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9300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89888" y="342900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Home lending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89888" y="393192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Owner-occupier · Investor · Construction · Guarantor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73952" y="332841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349300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40880" y="342900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Personal lending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7040880" y="393192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&amp; car loans · Green / EV loan · Overdraft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456285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2744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89888" y="466344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Cards &amp; protection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89888" y="516636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&amp; rewards cards · Insurance · CCI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4562856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4727448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06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40880" y="466344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Digital &amp; servicing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7040880" y="5166360"/>
            <a:ext cx="4325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online banking · PayTo / Osko · Open banking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replace category contents with the current on-sale product list.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·  THE PRODUCT SUITE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Strong on the basics, thin at the edges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246888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Core deposit and everyday banking at competitive rates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44728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3401568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credible home-lending range for mainstream borrowers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4379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4334256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Digital banking parity for day-to-day servicing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22960" y="531266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5266944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trusted, member-owned brand with high satisfaction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715000" y="1691640"/>
            <a:ext cx="5532120" cy="4343400"/>
          </a:xfrm>
          <a:prstGeom prst="roundRect">
            <a:avLst>
              <a:gd name="adj" fmla="val 1263"/>
            </a:avLst>
          </a:prstGeom>
          <a:solidFill>
            <a:srgbClr val="EAE4D7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96596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TO CLOSE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37960" y="246888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Segment-specific products (first home buyer, small business) are limited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035040" y="344728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401568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Wealth, advice and protection are referral-only, not integrated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035040" y="4379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4334256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Sustainability and values-based products are early and narrow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035040" y="531266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7960" y="5266944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Onboarding and origination lag digital-first challengers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·  THE MEMBER LENS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member types we serve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catalogue must work across the whole life-stage journey. Each segment has a different centre of gravity.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Starting out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transactors and savers building their first relationship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2423160"/>
            <a:ext cx="12802" cy="28346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31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2926080" y="338328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First home buyers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26080" y="425196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Deposit-builders and new borrowers entering the market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74336" y="2423160"/>
            <a:ext cx="12802" cy="28346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331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5029200" y="338328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Families &amp; builders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0" y="425196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owners growing wealth, borrowing and protecting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77456" y="2423160"/>
            <a:ext cx="12802" cy="28346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0" y="2331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7132320" y="338328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Established members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0" y="425196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Pre-retirees consolidating, de-risking and seeking advice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80576" y="2423160"/>
            <a:ext cx="12802" cy="28346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1" name="Text 19"/>
          <p:cNvSpPr/>
          <p:nvPr/>
        </p:nvSpPr>
        <p:spPr>
          <a:xfrm>
            <a:off x="9235440" y="2331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9235440" y="338328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Community &amp; business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35440" y="425196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Cause-aligned members and small-business owners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segmentation — align to your member taxonomy.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·  SUITE × MEMBERS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completely the suite serves each member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337560" y="1783080"/>
            <a:ext cx="16047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OUT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942332" y="1783080"/>
            <a:ext cx="16047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HOME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47104" y="1783080"/>
            <a:ext cx="16047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151876" y="1783080"/>
            <a:ext cx="16047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756648" y="1783080"/>
            <a:ext cx="16047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" y="2167128"/>
            <a:ext cx="10538460" cy="13716"/>
          </a:xfrm>
          <a:prstGeom prst="rect">
            <a:avLst/>
          </a:prstGeom>
          <a:solidFill>
            <a:srgbClr val="13221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258568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Everyday banking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37560" y="225856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42332" y="225856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47104" y="225856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1876" y="225856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756648" y="225856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2711196"/>
            <a:ext cx="1053846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711196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Savings &amp; deposits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37560" y="2711196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42332" y="2711196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47104" y="2711196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51876" y="2711196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56648" y="2711196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" y="3163824"/>
            <a:ext cx="1053846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163824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Home lending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37560" y="3163824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42332" y="3163824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47104" y="3163824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151876" y="3163824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56648" y="3163824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22960" y="3616452"/>
            <a:ext cx="1053846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616452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Personal lending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37560" y="3616452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942332" y="3616452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547104" y="3616452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151876" y="3616452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56648" y="3616452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22960" y="4069080"/>
            <a:ext cx="1053846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069080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Cards &amp; protection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337560" y="4069080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942332" y="4069080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547104" y="4069080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151876" y="4069080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756648" y="4069080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22960" y="4521708"/>
            <a:ext cx="1053846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4521708"/>
            <a:ext cx="242316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Wealth &amp; advice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337560" y="452170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942332" y="452170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547104" y="452170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151876" y="452170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756648" y="4521708"/>
            <a:ext cx="1604772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22960" y="5084064"/>
            <a:ext cx="10538460" cy="13716"/>
          </a:xfrm>
          <a:prstGeom prst="rect">
            <a:avLst/>
          </a:prstGeom>
          <a:solidFill>
            <a:srgbClr val="13221C"/>
          </a:solidFill>
          <a:ln/>
        </p:spPr>
      </p:sp>
      <p:sp>
        <p:nvSpPr>
          <p:cNvPr id="52" name="Text 50"/>
          <p:cNvSpPr/>
          <p:nvPr/>
        </p:nvSpPr>
        <p:spPr>
          <a:xfrm>
            <a:off x="822960" y="52120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566160" y="5340096"/>
            <a:ext cx="1147572" cy="8229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54" name="Shape 52"/>
          <p:cNvSpPr/>
          <p:nvPr/>
        </p:nvSpPr>
        <p:spPr>
          <a:xfrm>
            <a:off x="3566160" y="5340096"/>
            <a:ext cx="573786" cy="82296"/>
          </a:xfrm>
          <a:prstGeom prst="rect">
            <a:avLst/>
          </a:prstGeom>
          <a:solidFill>
            <a:srgbClr val="9C7538"/>
          </a:solidFill>
          <a:ln/>
        </p:spPr>
      </p:sp>
      <p:sp>
        <p:nvSpPr>
          <p:cNvPr id="55" name="Text 53"/>
          <p:cNvSpPr/>
          <p:nvPr/>
        </p:nvSpPr>
        <p:spPr>
          <a:xfrm>
            <a:off x="3337560" y="5458968"/>
            <a:ext cx="16047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50%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170932" y="5340096"/>
            <a:ext cx="1147572" cy="8229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57" name="Shape 55"/>
          <p:cNvSpPr/>
          <p:nvPr/>
        </p:nvSpPr>
        <p:spPr>
          <a:xfrm>
            <a:off x="5170932" y="5340096"/>
            <a:ext cx="669417" cy="82296"/>
          </a:xfrm>
          <a:prstGeom prst="rect">
            <a:avLst/>
          </a:prstGeom>
          <a:solidFill>
            <a:srgbClr val="9C7538"/>
          </a:solidFill>
          <a:ln/>
        </p:spPr>
      </p:sp>
      <p:sp>
        <p:nvSpPr>
          <p:cNvPr id="58" name="Text 56"/>
          <p:cNvSpPr/>
          <p:nvPr/>
        </p:nvSpPr>
        <p:spPr>
          <a:xfrm>
            <a:off x="4942332" y="5458968"/>
            <a:ext cx="16047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58%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775704" y="5340096"/>
            <a:ext cx="1147572" cy="8229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60" name="Shape 58"/>
          <p:cNvSpPr/>
          <p:nvPr/>
        </p:nvSpPr>
        <p:spPr>
          <a:xfrm>
            <a:off x="6775704" y="5340096"/>
            <a:ext cx="956310" cy="82296"/>
          </a:xfrm>
          <a:prstGeom prst="rect">
            <a:avLst/>
          </a:prstGeom>
          <a:solidFill>
            <a:srgbClr val="9C7538"/>
          </a:solidFill>
          <a:ln/>
        </p:spPr>
      </p:sp>
      <p:sp>
        <p:nvSpPr>
          <p:cNvPr id="61" name="Text 59"/>
          <p:cNvSpPr/>
          <p:nvPr/>
        </p:nvSpPr>
        <p:spPr>
          <a:xfrm>
            <a:off x="6547104" y="5458968"/>
            <a:ext cx="16047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83%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380476" y="5340096"/>
            <a:ext cx="1147572" cy="8229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63" name="Shape 61"/>
          <p:cNvSpPr/>
          <p:nvPr/>
        </p:nvSpPr>
        <p:spPr>
          <a:xfrm>
            <a:off x="8380476" y="5340096"/>
            <a:ext cx="956310" cy="82296"/>
          </a:xfrm>
          <a:prstGeom prst="rect">
            <a:avLst/>
          </a:prstGeom>
          <a:solidFill>
            <a:srgbClr val="9C7538"/>
          </a:solidFill>
          <a:ln/>
        </p:spPr>
      </p:sp>
      <p:sp>
        <p:nvSpPr>
          <p:cNvPr id="64" name="Text 62"/>
          <p:cNvSpPr/>
          <p:nvPr/>
        </p:nvSpPr>
        <p:spPr>
          <a:xfrm>
            <a:off x="8151876" y="5458968"/>
            <a:ext cx="16047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83%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985248" y="5340096"/>
            <a:ext cx="1147572" cy="8229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66" name="Shape 64"/>
          <p:cNvSpPr/>
          <p:nvPr/>
        </p:nvSpPr>
        <p:spPr>
          <a:xfrm>
            <a:off x="9985248" y="5340096"/>
            <a:ext cx="382524" cy="82296"/>
          </a:xfrm>
          <a:prstGeom prst="rect">
            <a:avLst/>
          </a:prstGeom>
          <a:solidFill>
            <a:srgbClr val="9C7538"/>
          </a:solidFill>
          <a:ln/>
        </p:spPr>
      </p:sp>
      <p:sp>
        <p:nvSpPr>
          <p:cNvPr id="67" name="Text 65"/>
          <p:cNvSpPr/>
          <p:nvPr/>
        </p:nvSpPr>
        <p:spPr>
          <a:xfrm>
            <a:off x="9756648" y="5458968"/>
            <a:ext cx="16047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33%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22960" y="57972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 </a:t>
            </a:r>
            <a:pPr indent="0" marL="0">
              <a:buNone/>
            </a:pPr>
            <a:r>
              <a:rPr lang="en-US" sz="11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— competitive, integrated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4389120" y="57972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 </a:t>
            </a:r>
            <a:pPr indent="0" marL="0">
              <a:buNone/>
            </a:pPr>
            <a:r>
              <a:rPr lang="en-US" sz="11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exists but thin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7955280" y="57972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EB6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 </a:t>
            </a:r>
            <a:pPr indent="0" marL="0">
              <a:buNone/>
            </a:pPr>
            <a:r>
              <a:rPr lang="en-US" sz="11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— referral-only or absent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822960" y="614476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coverage assessment — replace with your product-to-segment mapping.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·  TARGET STATE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a complete suite looks like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783080" y="216712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Complete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78308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core need met in-house across all five member types — no structural gaps.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73952" y="1965960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21488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434072" y="216712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Connected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434072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Wealth, advice and protection integrated into banking, not bolted on by referral.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886200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690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783080" y="408736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Digital-native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783080" y="463600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Originate, service and switch in-app, at parity with the best challengers.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73952" y="3886200"/>
            <a:ext cx="4892040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7" name="Text 15"/>
          <p:cNvSpPr/>
          <p:nvPr/>
        </p:nvSpPr>
        <p:spPr>
          <a:xfrm>
            <a:off x="6473952" y="40690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7434072" y="408736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Purpose-built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434072" y="463600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Values-based and sustainable options only a member-owned bank can lead 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822960"/>
            <a:ext cx="6400800" cy="5212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C322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TWO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86384" y="2560320"/>
            <a:ext cx="8686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we show up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 the market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vanilla, basic banking to a distinctive, member-owned proposition — the second, differentiated view.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 ·  THE MARKET VIEW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Today we show up as vanilla banking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COMMODITY TRAP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5420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505456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We compete on rate and fees — the same battleground as everyone else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346704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Products look interchangeable with the majors and the challengers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42245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4187952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Our member-owned difference is felt, but not expressed in the offer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22960" y="50657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5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5029200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Choice is driven by price comparison, not by what we stand for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715000" y="2011680"/>
            <a:ext cx="12802" cy="365760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572768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12000" dirty="0"/>
          </a:p>
        </p:txBody>
      </p:sp>
      <p:sp>
        <p:nvSpPr>
          <p:cNvPr id="15" name="Text 13"/>
          <p:cNvSpPr/>
          <p:nvPr/>
        </p:nvSpPr>
        <p:spPr>
          <a:xfrm>
            <a:off x="6903720" y="2724912"/>
            <a:ext cx="4434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24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If a member can't tell us apart from a big-four product page, we compete only on price — and a mutual can't win a race to the bottom.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03720" y="498348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banking commoditises our balance sheet, erodes margin, and leaves our purpose invisible at the point of choice.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 ·  THE SECOND VIEW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ways to show up — the choice we're making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657600" y="2011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BANKING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498080" y="2011680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DIFFERENTIATED VIEW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2441448"/>
            <a:ext cx="10543032" cy="13716"/>
          </a:xfrm>
          <a:prstGeom prst="rect">
            <a:avLst/>
          </a:prstGeom>
          <a:solidFill>
            <a:srgbClr val="13221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of choice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0" y="256032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49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Rate &amp; fees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498080" y="2560320"/>
            <a:ext cx="36850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Value &amp; values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822960" y="3310128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310128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framing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3310128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49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Feature checklists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498080" y="3310128"/>
            <a:ext cx="36850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Member outcomes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59936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4059936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49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Transactional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498080" y="4059936"/>
            <a:ext cx="36850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Lifetime &amp; advised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4809744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809744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story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0" y="4809744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49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Extracted for shareholders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0" y="4809744"/>
            <a:ext cx="36850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Returned to members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822960" y="5559552"/>
            <a:ext cx="1054303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559552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role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0" y="5559552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49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safe utility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498080" y="5559552"/>
            <a:ext cx="36850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bank with a point of view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products can sit behind either column — the difference is the proposition we wrap around them.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 ·  TARGET STATE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proposition that is unmistakably ours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MUTUAL DIFFERENCE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3246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Four things a shareholder bank cannot say — and mean.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visible at the point of choice, not buried in the annual report.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103120"/>
            <a:ext cx="12802" cy="397764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8" name="Text 6"/>
          <p:cNvSpPr/>
          <p:nvPr/>
        </p:nvSpPr>
        <p:spPr>
          <a:xfrm>
            <a:off x="4983480" y="1993392"/>
            <a:ext cx="960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035040" y="1984248"/>
            <a:ext cx="5330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Member value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035040" y="2395728"/>
            <a:ext cx="53309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Profits returned as better rates, lower fees and shared rewards — the mutual dividend, made visible.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983480" y="2935224"/>
            <a:ext cx="638251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3026664"/>
            <a:ext cx="960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035040" y="3017520"/>
            <a:ext cx="5330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Trusted advice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035040" y="3429000"/>
            <a:ext cx="53309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across life stages, not just product sales — banking that acts in the member's interest.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83480" y="3968496"/>
            <a:ext cx="638251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4059936"/>
            <a:ext cx="960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035040" y="4050792"/>
            <a:ext cx="5330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Purpose &amp; community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6035040" y="4462272"/>
            <a:ext cx="53309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Values-aligned lending and local impact members can see and feel proud of.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83480" y="5001768"/>
            <a:ext cx="6382512" cy="13716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5093208"/>
            <a:ext cx="960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5084064"/>
            <a:ext cx="5330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Effortless service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035040" y="5495544"/>
            <a:ext cx="53309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when it matters, digital when it's faster — a relationship, not a call queue.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IT TOGETHER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target state on a page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95528" y="2148840"/>
            <a:ext cx="1463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194560" y="21671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complete, connected suite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94560" y="269748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core need served in-house across all five member types — complete, connected, digital-native and purpose-built. The gaps in wealth, advice, protection and segment products are closed.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10543032" cy="13716"/>
          </a:xfrm>
          <a:prstGeom prst="rect">
            <a:avLst/>
          </a:prstGeom>
          <a:solidFill>
            <a:srgbClr val="2E4438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4343400"/>
            <a:ext cx="1463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2194560" y="436168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proposition that is unmistakably ours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94560" y="489204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 competing on rate alone and show up on member value, trusted advice, purpose and effortless service — the mutual difference, made visible at the point of choice.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complete suite gives us the right to compete; a distinctive proposition is why members choose us.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95528" y="1024128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Three horizons to get there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97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0–12 MONTHS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3145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Fix the basics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0540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core on-sale suite, close obvious segment gaps, reach digital origination parity.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2286000"/>
            <a:ext cx="12802" cy="320040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9" name="Text 7"/>
          <p:cNvSpPr/>
          <p:nvPr/>
        </p:nvSpPr>
        <p:spPr>
          <a:xfrm>
            <a:off x="4334256" y="2194560"/>
            <a:ext cx="1097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334256" y="3520440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34256" y="3794760"/>
            <a:ext cx="3145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Differentiate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334256" y="4389120"/>
            <a:ext cx="30540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wealth, advice and protection; launch member-value and segment-led propositions.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90688" y="2286000"/>
            <a:ext cx="12802" cy="3200400"/>
          </a:xfrm>
          <a:prstGeom prst="rect">
            <a:avLst/>
          </a:prstGeom>
          <a:solidFill>
            <a:srgbClr val="D6CFBF"/>
          </a:solidFill>
          <a:ln/>
        </p:spPr>
      </p:sp>
      <p:sp>
        <p:nvSpPr>
          <p:cNvPr id="14" name="Text 12"/>
          <p:cNvSpPr/>
          <p:nvPr/>
        </p:nvSpPr>
        <p:spPr>
          <a:xfrm>
            <a:off x="7845552" y="2194560"/>
            <a:ext cx="1097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7845552" y="3520440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C7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MONTHS +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45552" y="3794760"/>
            <a:ext cx="3145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627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Lead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845552" y="4389120"/>
            <a:ext cx="30540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1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Purpose-led, ecosystem-enabled banking where the member-owned model is our edge at scale.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sequencing — confirm scope and timing with the executive team.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8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75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274320"/>
            <a:ext cx="5486400" cy="6400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0" dirty="0">
                <a:solidFill>
                  <a:srgbClr val="1C322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&amp;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6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OF LEADERS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86384" y="109728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 the shift from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vanilla to distinctive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935224"/>
            <a:ext cx="10058400" cy="13716"/>
          </a:xfrm>
          <a:prstGeom prst="rect">
            <a:avLst/>
          </a:prstGeom>
          <a:solidFill>
            <a:srgbClr val="2E443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0632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3044952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Endorse the two-element target state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3044952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product suite and a differentiated, member-owned proposition.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831336"/>
            <a:ext cx="10058400" cy="13716"/>
          </a:xfrm>
          <a:prstGeom prst="rect">
            <a:avLst/>
          </a:prstGeom>
          <a:solidFill>
            <a:srgbClr val="2E443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5935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91640" y="3941064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Prioritise closing the gaps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766560" y="394106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Horizon 1 moves that bring the on-sale suite to completeness.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727448"/>
            <a:ext cx="10058400" cy="13716"/>
          </a:xfrm>
          <a:prstGeom prst="rect">
            <a:avLst/>
          </a:prstGeom>
          <a:solidFill>
            <a:srgbClr val="2E443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55464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91640" y="4837176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9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Commit to the proposition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66560" y="4837176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6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compete on member value, not just rate — across every segment.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suite earns us the right to compete. The proposition is why members choose us — and stay.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E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835640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9A5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State Product &amp; Proposition</dc:title>
  <dc:subject>PptxGenJS Presentation</dc:subject>
  <dc:creator>[Bank Name]</dc:creator>
  <cp:lastModifiedBy>[Bank Name]</cp:lastModifiedBy>
  <cp:revision>1</cp:revision>
  <dcterms:created xsi:type="dcterms:W3CDTF">2026-07-27T02:34:20Z</dcterms:created>
  <dcterms:modified xsi:type="dcterms:W3CDTF">2026-07-27T02:34:20Z</dcterms:modified>
</cp:coreProperties>
</file>