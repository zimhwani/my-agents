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frame. This is about the product portfolio dimension of the core platform transformation. The whole story is one shift: from a product-led catalogue to a proposition-led architecture, enabled by the new Infosys platform. Everything today leads to four executive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setup, and the stat that lands it: 48 owned on-sale products plus 10 third-party products is the scale of today's complexity. Left is where we are; the ink panel is the destination. The 4 previews the executive decisions on the closing slide — product consolidation, migration treatment, member impact, and Infosys platform capability.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Element 1 divider. We first examine today: a broad, product-led portfolio and the challenges it creates for members and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diagnosis of today. The catalogue is broad and built to differentiate through product count. Complexity concentrates in home lending, savings, term deposits and education-sector products. Crucially, differentiation is product-based rather than member-based — and some products earn their keep only marginally.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conflict. Five challenges, anchored by the thesis on the left: breadth has become a barrier. Note the member framing — teachers, nurses, education-sector organisations, early-career members. Point five sets up the Day 1 / Day 2 sequencing: some value is deliberately deferred until the platform and partner ecosystem mature.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Element 2 divider. From today to the destination: a proposition-led architecture on the new Infosys core platform, with Day 1 capability and Day 2 evolution.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ambition, in one line: fewer core products, greater configurability, clearer propositions. The four columns make it concrete. Day 1 ready is the key platform message — configurability is preserved from launch, with Day 2 evolution intentional, not accidental. And we will not replicate legacy complexity on the new 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architecture. Read left as the product family; right as how it simplifies. The pattern is consistent: what used to be separate products becomes configurable attributes — variants, pricing, eligibility, controls and service settings — on a smaller core. Education-sector banking is repositioned onto core products rather than kept as a separate product set. Illustrative, pending confirmed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conceptual model, and the heart of the shift. Read the stack bottom-up: fewer standardised core products, wrapped in a configurable layer of features, pricing, eligibility, controls and communications, with propositions sitting on top. Propositions — not products — are what members experience. Priority focus is our core membership; future propositions extend by life stage; and partner benefits, Doshi and salary packaging widen value beyond banking.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pivot, dimension by dimension. Left is where we are, right is where we're going, across differentiation, conversations, pricing, migration and operating model. The caption is the reassurance for members: this is an architecture and proposition change, not a disruption to the products people hold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rules of the road for migration. Principle one is non-negotiable: no member detriment. The rest are the decision logic — consolidate features masquerading as products, grandfather only where genuinely required, retire avoidable complexity, and validate every call across member impact, compliance, pricing, operations and communications.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close, framed as decisions rather than discussion. Four calls the executive team must make: how far to consolidate, how to treat migration, how to protect and communicate to members, and confirmation of Infosys Day 1 configurability plus the Day 2 roadmap. The italic brass line restates the destination in one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2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91440"/>
            <a:ext cx="5074920" cy="6675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0" dirty="0">
                <a:solidFill>
                  <a:srgbClr val="1C3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C6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BRIEFING  ·  [BANK NAME]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86384" y="1965960"/>
            <a:ext cx="87782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800" dirty="0">
                <a:solidFill>
                  <a:srgbClr val="EFE9D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Core Banking</a:t>
            </a:r>
            <a:endParaRPr lang="en-US" sz="48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800" dirty="0">
                <a:solidFill>
                  <a:srgbClr val="EFE9D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Platform</a:t>
            </a:r>
            <a:endParaRPr lang="en-US" sz="48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800" dirty="0">
                <a:solidFill>
                  <a:srgbClr val="EFE9D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Transformation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470916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6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Reshaping the product portfolio — from a product-led catalogue to a proposition-led architecture, delivered on the new Infosys core platform.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5806440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9A5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pPr indent="0" marL="0">
              <a:buNone/>
            </a:pPr>
            <a:r>
              <a:rPr lang="en-US" sz="1300" dirty="0">
                <a:solidFill>
                  <a:srgbClr val="EF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Current state — a broad, product-led catalogue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61447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9A5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pPr indent="0" marL="0">
              <a:buNone/>
            </a:pPr>
            <a:r>
              <a:rPr lang="en-US" sz="1300" dirty="0">
                <a:solidFill>
                  <a:srgbClr val="EF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Target state — a simplified, proposition-led architecture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38160" y="641908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Executive &amp; Leadership Team  ·  [Month Year]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C7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95528" y="1024128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1627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From a product-led catalogue to a proposition-led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6276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78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 reduces product complexity, improves member clarity, and creates flexibility for segment-based propositions.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8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PORTFOLIO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4617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50" dirty="0">
                <a:solidFill>
                  <a:srgbClr val="1627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Broad and product-led — a catalogue built to differentiate through the number and variety of products we offer.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5989320" y="2011680"/>
            <a:ext cx="5394960" cy="2148840"/>
          </a:xfrm>
          <a:prstGeom prst="roundRect">
            <a:avLst>
              <a:gd name="adj" fmla="val 2553"/>
            </a:avLst>
          </a:prstGeom>
          <a:solidFill>
            <a:srgbClr val="13221C"/>
          </a:solidFill>
          <a:ln/>
        </p:spPr>
      </p:sp>
      <p:sp>
        <p:nvSpPr>
          <p:cNvPr id="8" name="Text 6"/>
          <p:cNvSpPr/>
          <p:nvPr/>
        </p:nvSpPr>
        <p:spPr>
          <a:xfrm>
            <a:off x="6355080" y="2286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6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STATE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55080" y="265176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50" dirty="0">
                <a:solidFill>
                  <a:srgbClr val="EFE9D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simplified, proposition-led architecture — fewer core products, far greater configurability, and clearer member propositions.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822960" y="4389120"/>
            <a:ext cx="10543032" cy="13716"/>
          </a:xfrm>
          <a:prstGeom prst="rect">
            <a:avLst/>
          </a:prstGeom>
          <a:solidFill>
            <a:srgbClr val="D6CFB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572000"/>
            <a:ext cx="1417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9C753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48</a:t>
            </a:r>
            <a:endParaRPr lang="en-US" sz="5800" dirty="0"/>
          </a:p>
        </p:txBody>
      </p:sp>
      <p:sp>
        <p:nvSpPr>
          <p:cNvPr id="12" name="Text 10"/>
          <p:cNvSpPr/>
          <p:nvPr/>
        </p:nvSpPr>
        <p:spPr>
          <a:xfrm>
            <a:off x="2286000" y="4645152"/>
            <a:ext cx="186537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1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owned, on-sale products in the current catalogue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15968" y="4709160"/>
            <a:ext cx="12802" cy="1097280"/>
          </a:xfrm>
          <a:prstGeom prst="rect">
            <a:avLst/>
          </a:prstGeom>
          <a:solidFill>
            <a:srgbClr val="D6CFBF"/>
          </a:solidFill>
          <a:ln/>
        </p:spPr>
      </p:sp>
      <p:sp>
        <p:nvSpPr>
          <p:cNvPr id="14" name="Text 12"/>
          <p:cNvSpPr/>
          <p:nvPr/>
        </p:nvSpPr>
        <p:spPr>
          <a:xfrm>
            <a:off x="4334256" y="4572000"/>
            <a:ext cx="1417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9C753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</a:t>
            </a:r>
            <a:endParaRPr lang="en-US" sz="5800" dirty="0"/>
          </a:p>
        </p:txBody>
      </p:sp>
      <p:sp>
        <p:nvSpPr>
          <p:cNvPr id="15" name="Text 13"/>
          <p:cNvSpPr/>
          <p:nvPr/>
        </p:nvSpPr>
        <p:spPr>
          <a:xfrm>
            <a:off x="5797296" y="4645152"/>
            <a:ext cx="186537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1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products, adding further complexity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827264" y="4709160"/>
            <a:ext cx="12802" cy="1097280"/>
          </a:xfrm>
          <a:prstGeom prst="rect">
            <a:avLst/>
          </a:prstGeom>
          <a:solidFill>
            <a:srgbClr val="D6CFBF"/>
          </a:solidFill>
          <a:ln/>
        </p:spPr>
      </p:sp>
      <p:sp>
        <p:nvSpPr>
          <p:cNvPr id="17" name="Text 15"/>
          <p:cNvSpPr/>
          <p:nvPr/>
        </p:nvSpPr>
        <p:spPr>
          <a:xfrm>
            <a:off x="7845552" y="4572000"/>
            <a:ext cx="1417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9C753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5800" dirty="0"/>
          </a:p>
        </p:txBody>
      </p:sp>
      <p:sp>
        <p:nvSpPr>
          <p:cNvPr id="18" name="Text 16"/>
          <p:cNvSpPr/>
          <p:nvPr/>
        </p:nvSpPr>
        <p:spPr>
          <a:xfrm>
            <a:off x="9308592" y="4645152"/>
            <a:ext cx="186537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1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decisions required to move forward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643737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8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[Bank Name]  ·  Core Banking Platform Transformation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835640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753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22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0" y="822960"/>
            <a:ext cx="6400800" cy="5212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0000" b="1" dirty="0">
                <a:solidFill>
                  <a:srgbClr val="1C32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822960" y="214884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C6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ONE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86384" y="2560320"/>
            <a:ext cx="10515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dirty="0">
                <a:solidFill>
                  <a:srgbClr val="EFE9D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Current state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dirty="0">
                <a:solidFill>
                  <a:srgbClr val="EFE9D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product-led portfolio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46177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A6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broad catalogue built to differentiate through product variety — and the complexity that has come with it.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22960" y="643737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[Bank Name]  ·  Core Banking Platform Transformation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835640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69A5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C7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 ·  THE PORTFOLIO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95528" y="1024128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300" dirty="0">
                <a:solidFill>
                  <a:srgbClr val="1627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broad, product-led portfolio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78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 built to differentiate through product variety — across lending, deposits, transaction accounts, cards, education-sector banking and third-party offers.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4892040" cy="13716"/>
          </a:xfrm>
          <a:prstGeom prst="rect">
            <a:avLst/>
          </a:prstGeom>
          <a:solidFill>
            <a:srgbClr val="D6CFB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3172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69A5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783080" y="235000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627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broad catalogue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783080" y="2898648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31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Lending, deposits, transaction accounts, credit cards, education-sector banking and third-party offers.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73952" y="2148840"/>
            <a:ext cx="4892040" cy="13716"/>
          </a:xfrm>
          <a:prstGeom prst="rect">
            <a:avLst/>
          </a:prstGeom>
          <a:solidFill>
            <a:srgbClr val="D6CFBF"/>
          </a:solidFill>
          <a:ln/>
        </p:spPr>
      </p:sp>
      <p:sp>
        <p:nvSpPr>
          <p:cNvPr id="10" name="Text 8"/>
          <p:cNvSpPr/>
          <p:nvPr/>
        </p:nvSpPr>
        <p:spPr>
          <a:xfrm>
            <a:off x="6473952" y="233172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69A5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7434072" y="235000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627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Concentrated complexity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434072" y="2898648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31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visible in home lending, savings, term deposits and education-sector products.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3995928"/>
            <a:ext cx="4892040" cy="13716"/>
          </a:xfrm>
          <a:prstGeom prst="rect">
            <a:avLst/>
          </a:prstGeom>
          <a:solidFill>
            <a:srgbClr val="D6CFBF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178808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69A5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1783080" y="4197096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627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Product-based differentiation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783080" y="4745736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31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 comes from products, not from segment, behaviour, relationship or life stage.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73952" y="3995928"/>
            <a:ext cx="4892040" cy="13716"/>
          </a:xfrm>
          <a:prstGeom prst="rect">
            <a:avLst/>
          </a:prstGeom>
          <a:solidFill>
            <a:srgbClr val="D6CFBF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4178808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69A5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04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7434072" y="4197096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627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Limited-value products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434072" y="4745736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31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products carry low usage, limited strategic value or overlapping propositions.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643737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8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[Bank Name]  ·  Core Banking Platform Transformation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835640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753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C7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 ·  THE CHALLENGES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95528" y="1024128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300" dirty="0">
                <a:solidFill>
                  <a:srgbClr val="1627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the product-led model holds us back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822960" y="2148840"/>
            <a:ext cx="30632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2200" dirty="0">
                <a:solidFill>
                  <a:srgbClr val="1627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Breadth has become a barrier — to clarity, to focus, and to serving our core members well.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60520" y="2011680"/>
            <a:ext cx="12802" cy="3886200"/>
          </a:xfrm>
          <a:prstGeom prst="rect">
            <a:avLst/>
          </a:prstGeom>
          <a:solidFill>
            <a:srgbClr val="D6CFBF"/>
          </a:solidFill>
          <a:ln/>
        </p:spPr>
      </p:sp>
      <p:sp>
        <p:nvSpPr>
          <p:cNvPr id="6" name="Shape 4"/>
          <p:cNvSpPr/>
          <p:nvPr/>
        </p:nvSpPr>
        <p:spPr>
          <a:xfrm>
            <a:off x="4434840" y="1993392"/>
            <a:ext cx="6931152" cy="13716"/>
          </a:xfrm>
          <a:prstGeom prst="rect">
            <a:avLst/>
          </a:prstGeom>
          <a:solidFill>
            <a:srgbClr val="D6CFBF"/>
          </a:solidFill>
          <a:ln/>
        </p:spPr>
      </p:sp>
      <p:sp>
        <p:nvSpPr>
          <p:cNvPr id="7" name="Text 5"/>
          <p:cNvSpPr/>
          <p:nvPr/>
        </p:nvSpPr>
        <p:spPr>
          <a:xfrm>
            <a:off x="4434840" y="2139696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753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83480" y="2121408"/>
            <a:ext cx="63825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627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Limited differentiation for our core segments — teachers, nurses, education-sector organisations and early-career members.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434840" y="2798064"/>
            <a:ext cx="6931152" cy="13716"/>
          </a:xfrm>
          <a:prstGeom prst="rect">
            <a:avLst/>
          </a:prstGeom>
          <a:solidFill>
            <a:srgbClr val="D6CFBF"/>
          </a:solidFill>
          <a:ln/>
        </p:spPr>
      </p:sp>
      <p:sp>
        <p:nvSpPr>
          <p:cNvPr id="10" name="Text 8"/>
          <p:cNvSpPr/>
          <p:nvPr/>
        </p:nvSpPr>
        <p:spPr>
          <a:xfrm>
            <a:off x="4434840" y="294436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753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83480" y="2926080"/>
            <a:ext cx="63825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627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Product proliferation drives operational complexity and a member proposition that is harder to explain.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434840" y="3602736"/>
            <a:ext cx="6931152" cy="13716"/>
          </a:xfrm>
          <a:prstGeom prst="rect">
            <a:avLst/>
          </a:prstGeom>
          <a:solidFill>
            <a:srgbClr val="D6CFBF"/>
          </a:solidFill>
          <a:ln/>
        </p:spPr>
      </p:sp>
      <p:sp>
        <p:nvSpPr>
          <p:cNvPr id="13" name="Text 11"/>
          <p:cNvSpPr/>
          <p:nvPr/>
        </p:nvSpPr>
        <p:spPr>
          <a:xfrm>
            <a:off x="4434840" y="374904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753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83480" y="3730752"/>
            <a:ext cx="63825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627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Savings and deposit pricing are largely product-led, rather than relationship- or behaviour-led.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434840" y="4407408"/>
            <a:ext cx="6931152" cy="13716"/>
          </a:xfrm>
          <a:prstGeom prst="rect">
            <a:avLst/>
          </a:prstGeom>
          <a:solidFill>
            <a:srgbClr val="D6CFBF"/>
          </a:solidFill>
          <a:ln/>
        </p:spPr>
      </p:sp>
      <p:sp>
        <p:nvSpPr>
          <p:cNvPr id="16" name="Text 14"/>
          <p:cNvSpPr/>
          <p:nvPr/>
        </p:nvSpPr>
        <p:spPr>
          <a:xfrm>
            <a:off x="4434840" y="455371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753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83480" y="4535424"/>
            <a:ext cx="63825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627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Gaps in rewards, financial wellbeing, salary packaging, partner benefits, everyday features and life-stage propositions.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4434840" y="5212080"/>
            <a:ext cx="6931152" cy="13716"/>
          </a:xfrm>
          <a:prstGeom prst="rect">
            <a:avLst/>
          </a:prstGeom>
          <a:solidFill>
            <a:srgbClr val="D6CFBF"/>
          </a:solidFill>
          <a:ln/>
        </p:spPr>
      </p:sp>
      <p:sp>
        <p:nvSpPr>
          <p:cNvPr id="19" name="Text 17"/>
          <p:cNvSpPr/>
          <p:nvPr/>
        </p:nvSpPr>
        <p:spPr>
          <a:xfrm>
            <a:off x="4434840" y="5358384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753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05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983480" y="5340096"/>
            <a:ext cx="63825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627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Some capabilities are better suited to Day 2, once the new platform and partner ecosystem are established.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22960" y="643737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8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[Bank Name]  ·  Core Banking Platform Transformation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835640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753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22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0" y="822960"/>
            <a:ext cx="6400800" cy="5212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0000" b="1" dirty="0">
                <a:solidFill>
                  <a:srgbClr val="1C32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822960" y="214884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C6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TWO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86384" y="2560320"/>
            <a:ext cx="10515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dirty="0">
                <a:solidFill>
                  <a:srgbClr val="EFE9D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Target state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dirty="0">
                <a:solidFill>
                  <a:srgbClr val="EFE9D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proposition-led architecture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46177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A6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core products, greater configurability, and clearer propositions for the members we exist to serve.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22960" y="643737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[Bank Name]  ·  Core Banking Platform Transformation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835640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69A5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C7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STATE  ·  THE AMBITION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95528" y="1024128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300" dirty="0">
                <a:solidFill>
                  <a:srgbClr val="1627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From product-led to proposition-led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627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Fewer core products. </a:t>
            </a:r>
            <a:pPr indent="0" marL="0">
              <a:buNone/>
            </a:pPr>
            <a:r>
              <a:rPr lang="en-US" sz="2500" dirty="0">
                <a:solidFill>
                  <a:srgbClr val="9C753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Greater configurability. </a:t>
            </a:r>
            <a:pPr indent="0" marL="0">
              <a:buNone/>
            </a:pPr>
            <a:r>
              <a:rPr lang="en-US" sz="2500" dirty="0">
                <a:solidFill>
                  <a:srgbClr val="1627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Clearer propositions.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822960" y="2606040"/>
            <a:ext cx="10543032" cy="13716"/>
          </a:xfrm>
          <a:prstGeom prst="rect">
            <a:avLst/>
          </a:prstGeom>
          <a:solidFill>
            <a:srgbClr val="D6CFB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926080"/>
            <a:ext cx="24505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C69A5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3840480"/>
            <a:ext cx="2359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627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Fewer core products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4526280"/>
            <a:ext cx="23134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31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by configurable features, pricing, eligibility, controls and communications.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01568" y="3017520"/>
            <a:ext cx="12802" cy="2880360"/>
          </a:xfrm>
          <a:prstGeom prst="rect">
            <a:avLst/>
          </a:prstGeom>
          <a:solidFill>
            <a:srgbClr val="D6CFBF"/>
          </a:solidFill>
          <a:ln/>
        </p:spPr>
      </p:sp>
      <p:sp>
        <p:nvSpPr>
          <p:cNvPr id="10" name="Text 8"/>
          <p:cNvSpPr/>
          <p:nvPr/>
        </p:nvSpPr>
        <p:spPr>
          <a:xfrm>
            <a:off x="3456432" y="2926080"/>
            <a:ext cx="24505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C69A5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3456432" y="3840480"/>
            <a:ext cx="2359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627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Clearer propositions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456432" y="4526280"/>
            <a:ext cx="23134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31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priority segments and life stages — not product variety.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3017520"/>
            <a:ext cx="12802" cy="2880360"/>
          </a:xfrm>
          <a:prstGeom prst="rect">
            <a:avLst/>
          </a:prstGeom>
          <a:solidFill>
            <a:srgbClr val="D6CFBF"/>
          </a:solidFill>
          <a:ln/>
        </p:spPr>
      </p:sp>
      <p:sp>
        <p:nvSpPr>
          <p:cNvPr id="14" name="Text 12"/>
          <p:cNvSpPr/>
          <p:nvPr/>
        </p:nvSpPr>
        <p:spPr>
          <a:xfrm>
            <a:off x="6089904" y="2926080"/>
            <a:ext cx="24505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C69A5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6089904" y="3840480"/>
            <a:ext cx="2359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627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Day 1 ready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089904" y="4526280"/>
            <a:ext cx="23134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31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capability preserved for proposition-led design, with room for Day 2 evolution.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68512" y="3017520"/>
            <a:ext cx="12802" cy="2880360"/>
          </a:xfrm>
          <a:prstGeom prst="rect">
            <a:avLst/>
          </a:prstGeom>
          <a:solidFill>
            <a:srgbClr val="D6CFBF"/>
          </a:solidFill>
          <a:ln/>
        </p:spPr>
      </p:sp>
      <p:sp>
        <p:nvSpPr>
          <p:cNvPr id="18" name="Text 16"/>
          <p:cNvSpPr/>
          <p:nvPr/>
        </p:nvSpPr>
        <p:spPr>
          <a:xfrm>
            <a:off x="8723376" y="2926080"/>
            <a:ext cx="24505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C69A5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04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8723376" y="3840480"/>
            <a:ext cx="2359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627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 legacy replication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723376" y="4526280"/>
            <a:ext cx="23134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31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re-creating unnecessary legacy product structures on the new platform.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643737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8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[Bank Name]  ·  Core Banking Platform Transformation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835640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753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C7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STATE  ·  PRODUCT ARCHITECTURE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95528" y="1024128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300" dirty="0">
                <a:solidFill>
                  <a:srgbClr val="1627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Fewer core products, configured to the member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8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FAMILY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931920" y="1874520"/>
            <a:ext cx="7434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TARGET-STATE SIMPLIFICATION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2276856"/>
            <a:ext cx="10543032" cy="13716"/>
          </a:xfrm>
          <a:prstGeom prst="rect">
            <a:avLst/>
          </a:prstGeom>
          <a:solidFill>
            <a:srgbClr val="13221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86584"/>
            <a:ext cx="2971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627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Home lending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3931920" y="2386584"/>
            <a:ext cx="7342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1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owner-occupier and investor products, with basic and offset variants.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3008376"/>
            <a:ext cx="10543032" cy="13716"/>
          </a:xfrm>
          <a:prstGeom prst="rect">
            <a:avLst/>
          </a:prstGeom>
          <a:solidFill>
            <a:srgbClr val="D6CFB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008376"/>
            <a:ext cx="2971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627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Personal lending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931920" y="3008376"/>
            <a:ext cx="7342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1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Secured and unsecured lending; pricing and policy attributes replace product proliferation.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3630168"/>
            <a:ext cx="10543032" cy="13716"/>
          </a:xfrm>
          <a:prstGeom prst="rect">
            <a:avLst/>
          </a:prstGeom>
          <a:solidFill>
            <a:srgbClr val="D6CFBF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630168"/>
            <a:ext cx="2971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627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Transaction accounts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931920" y="3630168"/>
            <a:ext cx="7342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1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Account and Pension Account, with segment-based features and controls.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2960" y="4251960"/>
            <a:ext cx="10543032" cy="13716"/>
          </a:xfrm>
          <a:prstGeom prst="rect">
            <a:avLst/>
          </a:prstGeom>
          <a:solidFill>
            <a:srgbClr val="D6CFB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51960"/>
            <a:ext cx="2971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627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Savings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3931920" y="4251960"/>
            <a:ext cx="7342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1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smaller product set, with configurable pricing, eligibility and campaign settings.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22960" y="4873752"/>
            <a:ext cx="10543032" cy="13716"/>
          </a:xfrm>
          <a:prstGeom prst="rect">
            <a:avLst/>
          </a:prstGeom>
          <a:solidFill>
            <a:srgbClr val="D6CFBF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873752"/>
            <a:ext cx="2971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627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Term deposits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3931920" y="4873752"/>
            <a:ext cx="7342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1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around configurable terms, rates and interest-payment frequencies.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22960" y="5495544"/>
            <a:ext cx="10543032" cy="13716"/>
          </a:xfrm>
          <a:prstGeom prst="rect">
            <a:avLst/>
          </a:prstGeom>
          <a:solidFill>
            <a:srgbClr val="D6CFBF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495544"/>
            <a:ext cx="2971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627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Education-sector banking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3931920" y="5495544"/>
            <a:ext cx="7342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1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Repositioned onto core products, with additional controls and service-model settings.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22960" y="617220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8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target-state architecture — subject to confirmed product decisions.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22960" y="643737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8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[Bank Name]  ·  Core Banking Platform Transformation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835640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753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C7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STATE  ·  THE OPERATING MODEL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95528" y="1024128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300" dirty="0">
                <a:solidFill>
                  <a:srgbClr val="1627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Propositions sit above the product catalogue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4846320" cy="932688"/>
          </a:xfrm>
          <a:prstGeom prst="roundRect">
            <a:avLst>
              <a:gd name="adj" fmla="val 4902"/>
            </a:avLst>
          </a:prstGeom>
          <a:solidFill>
            <a:srgbClr val="13221C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157984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6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248716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6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&amp; life-stage propositions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22960" y="3127248"/>
            <a:ext cx="4846320" cy="1234440"/>
          </a:xfrm>
          <a:prstGeom prst="roundRect">
            <a:avLst>
              <a:gd name="adj" fmla="val 3704"/>
            </a:avLst>
          </a:prstGeom>
          <a:solidFill>
            <a:srgbClr val="EAE4D7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3255264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7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LAYER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3584448"/>
            <a:ext cx="4206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1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· Pricing · Eligibility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1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· Communications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4544568"/>
            <a:ext cx="4846320" cy="932688"/>
          </a:xfrm>
          <a:prstGeom prst="roundRect">
            <a:avLst>
              <a:gd name="adj" fmla="val 4902"/>
            </a:avLst>
          </a:prstGeom>
          <a:solidFill>
            <a:srgbClr val="F4F1EA"/>
          </a:solidFill>
          <a:ln w="15875">
            <a:solidFill>
              <a:srgbClr val="D6C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4690872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62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PRODUCTS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5020056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8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Fewer, standardised, on the new core platform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0" y="2057400"/>
            <a:ext cx="12802" cy="3520440"/>
          </a:xfrm>
          <a:prstGeom prst="rect">
            <a:avLst/>
          </a:prstGeom>
          <a:solidFill>
            <a:srgbClr val="D6CFBF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2011680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FOCUS AREAS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63640" y="23957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9A5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766560" y="237744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627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Teachers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263640" y="28529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9A5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66560" y="283464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627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Nurses &amp; healthcare workers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263640" y="33101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9A5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0" y="329184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627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Education-sector organisations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263640" y="37673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9A5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66560" y="374904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627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Youth &amp; early-career members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263640" y="4370832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8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PROPOSITIONS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3640" y="4681728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1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home buyers, family builders, wealth builders, pre-retirement members — and deeper relationship-based propositions.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627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Partner benefits, Doshi financial wellbeing and salary packaging extend value beyond core banking products.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2960" y="643737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8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[Bank Name]  ·  Core Banking Platform Transformation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835640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753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C7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  ·  CURRENT TO TARGET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95528" y="1024128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300" dirty="0">
                <a:solidFill>
                  <a:srgbClr val="1627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same balance sheet, reframed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3291840" y="20116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8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— TODAY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315200" y="2011680"/>
            <a:ext cx="4050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C7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— TARGET STATE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22960" y="2432304"/>
            <a:ext cx="10543032" cy="13716"/>
          </a:xfrm>
          <a:prstGeom prst="rect">
            <a:avLst/>
          </a:prstGeom>
          <a:solidFill>
            <a:srgbClr val="13221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542032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8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91840" y="2542032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dirty="0">
                <a:solidFill>
                  <a:srgbClr val="9AA49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Many products create differentiation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315200" y="2542032"/>
            <a:ext cx="39136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dirty="0">
                <a:solidFill>
                  <a:srgbClr val="1627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Fewer products with configurable value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3255264"/>
            <a:ext cx="10543032" cy="13716"/>
          </a:xfrm>
          <a:prstGeom prst="rect">
            <a:avLst/>
          </a:prstGeom>
          <a:solidFill>
            <a:srgbClr val="D6CFB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255264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8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3255264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dirty="0">
                <a:solidFill>
                  <a:srgbClr val="9AA49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Product-led member conversations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315200" y="3255264"/>
            <a:ext cx="39136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dirty="0">
                <a:solidFill>
                  <a:srgbClr val="1627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Segment and life-stage propositions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22960" y="3968496"/>
            <a:ext cx="10543032" cy="13716"/>
          </a:xfrm>
          <a:prstGeom prst="rect">
            <a:avLst/>
          </a:prstGeom>
          <a:solidFill>
            <a:srgbClr val="D6CFBF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968496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8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3968496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dirty="0">
                <a:solidFill>
                  <a:srgbClr val="9AA49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Broad headline pricing and product variants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315200" y="3968496"/>
            <a:ext cx="39136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dirty="0">
                <a:solidFill>
                  <a:srgbClr val="1627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Relationship, behavioural and eligibility-based pricing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22960" y="4681728"/>
            <a:ext cx="10543032" cy="13716"/>
          </a:xfrm>
          <a:prstGeom prst="rect">
            <a:avLst/>
          </a:prstGeom>
          <a:solidFill>
            <a:srgbClr val="D6CFBF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681728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8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91840" y="4681728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dirty="0">
                <a:solidFill>
                  <a:srgbClr val="9AA49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Legacy migration as lift-and-shift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7315200" y="4681728"/>
            <a:ext cx="39136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dirty="0">
                <a:solidFill>
                  <a:srgbClr val="1627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Migration as simplification and member value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822960" y="5394960"/>
            <a:ext cx="10543032" cy="13716"/>
          </a:xfrm>
          <a:prstGeom prst="rect">
            <a:avLst/>
          </a:prstGeom>
          <a:solidFill>
            <a:srgbClr val="D6CFBF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39496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8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91840" y="5394960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dirty="0">
                <a:solidFill>
                  <a:srgbClr val="9AA49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complex operating model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7315200" y="5394960"/>
            <a:ext cx="39136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dirty="0">
                <a:solidFill>
                  <a:srgbClr val="1627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Reduced operational and system complexity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822960" y="614476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8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 is in architecture and proposition — not in the products members hold today.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22960" y="643737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8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[Bank Name]  ·  Core Banking Platform Transformation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835640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753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C7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 ·  LEGACY MIGRATION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95528" y="1024128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300" dirty="0">
                <a:solidFill>
                  <a:srgbClr val="1627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Principles for migrating the portfolio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22960" y="1911096"/>
            <a:ext cx="10543032" cy="13716"/>
          </a:xfrm>
          <a:prstGeom prst="rect">
            <a:avLst/>
          </a:prstGeom>
          <a:solidFill>
            <a:srgbClr val="D6CFB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5740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753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783080" y="2057400"/>
            <a:ext cx="9555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627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 member detriment.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734056"/>
            <a:ext cx="10543032" cy="13716"/>
          </a:xfrm>
          <a:prstGeom prst="rect">
            <a:avLst/>
          </a:prstGeom>
          <a:solidFill>
            <a:srgbClr val="D6CFB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8803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753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783080" y="2880360"/>
            <a:ext cx="9555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627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Consolidate where differences are features, pricing settings or eligibility rules — rather than true products.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557016"/>
            <a:ext cx="10543032" cy="13716"/>
          </a:xfrm>
          <a:prstGeom prst="rect">
            <a:avLst/>
          </a:prstGeom>
          <a:solidFill>
            <a:srgbClr val="D6CFB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7033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753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783080" y="3703320"/>
            <a:ext cx="9555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627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Grandfather products only where required for member, contractual, regulatory or operational reasons.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4379976"/>
            <a:ext cx="10543032" cy="13716"/>
          </a:xfrm>
          <a:prstGeom prst="rect">
            <a:avLst/>
          </a:prstGeom>
          <a:solidFill>
            <a:srgbClr val="D6CFBF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52628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753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783080" y="4526280"/>
            <a:ext cx="9555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627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Retire unnecessary complexity where products have low usage, limited strategic value or avoidable operational burden.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" y="5202936"/>
            <a:ext cx="10543032" cy="13716"/>
          </a:xfrm>
          <a:prstGeom prst="rect">
            <a:avLst/>
          </a:prstGeom>
          <a:solidFill>
            <a:srgbClr val="D6CFB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34924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753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05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783080" y="5349240"/>
            <a:ext cx="9555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627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Validate every migration decision through member-impact, compliance, pricing, operational and communication assessments.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643737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8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[Bank Name]  ·  Core Banking Platform Transformation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835640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753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2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0960" y="274320"/>
            <a:ext cx="4480560" cy="640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0" dirty="0">
                <a:solidFill>
                  <a:srgbClr val="1C3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0" dirty="0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C6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DECISIONS &amp; NEXT STEPS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86384" y="109728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dirty="0">
                <a:solidFill>
                  <a:srgbClr val="EFE9D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Four decisions to move</a:t>
            </a:r>
            <a:endParaRPr lang="en-US" sz="3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400" dirty="0">
                <a:solidFill>
                  <a:srgbClr val="EFE9D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from catalogue to architecture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2715768"/>
            <a:ext cx="10058400" cy="13716"/>
          </a:xfrm>
          <a:prstGeom prst="rect">
            <a:avLst/>
          </a:prstGeom>
          <a:solidFill>
            <a:srgbClr val="2E443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83464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69A5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691640" y="2834640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EFE9D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Product consolidation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6629400" y="2834640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6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to simplify the catalogue into fewer configurable core products.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493008"/>
            <a:ext cx="10058400" cy="13716"/>
          </a:xfrm>
          <a:prstGeom prst="rect">
            <a:avLst/>
          </a:prstGeom>
          <a:solidFill>
            <a:srgbClr val="2E443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61188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69A5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691640" y="3611880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EFE9D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Migration treatment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6629400" y="3611880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6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Consolidate, grandfather or retire — decided by member and operational impact.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270248"/>
            <a:ext cx="10058400" cy="13716"/>
          </a:xfrm>
          <a:prstGeom prst="rect">
            <a:avLst/>
          </a:prstGeom>
          <a:solidFill>
            <a:srgbClr val="2E443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38912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69A5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691640" y="4389120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EFE9D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Member impact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6629400" y="4389120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6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protect members and communicate change with no detriment.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5047488"/>
            <a:ext cx="10058400" cy="13716"/>
          </a:xfrm>
          <a:prstGeom prst="rect">
            <a:avLst/>
          </a:prstGeom>
          <a:solidFill>
            <a:srgbClr val="2E4438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16636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69A5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04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691640" y="5166360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EFE9D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Infosys platform capability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6629400" y="5166360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6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Day 1 configurability and the Day 2 evolution roadmap.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2960" y="60350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C69A5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Fewer products, greater configurability — a proposition-led portfolio, delivered on the new core platform.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822960" y="643737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[Bank Name]  ·  Core Banking Platform Transformation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35640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69A5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Core Banking Platform Transformation</dc:title>
  <dc:subject>PptxGenJS Presentation</dc:subject>
  <dc:creator>[Bank Name]</dc:creator>
  <cp:lastModifiedBy>[Bank Name]</cp:lastModifiedBy>
  <cp:revision>1</cp:revision>
  <dcterms:created xsi:type="dcterms:W3CDTF">2026-07-27T05:40:57Z</dcterms:created>
  <dcterms:modified xsi:type="dcterms:W3CDTF">2026-07-27T05:40:57Z</dcterms:modified>
</cp:coreProperties>
</file>