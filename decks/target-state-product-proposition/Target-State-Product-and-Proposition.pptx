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3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-1554480"/>
            <a:ext cx="4754880" cy="4754880"/>
          </a:xfrm>
          <a:prstGeom prst="roundRect">
            <a:avLst>
              <a:gd name="adj" fmla="val 50000"/>
            </a:avLst>
          </a:prstGeom>
          <a:ln w="19050">
            <a:solidFill>
              <a:srgbClr val="1C7293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84080" y="-640080"/>
            <a:ext cx="2926080" cy="2926080"/>
          </a:xfrm>
          <a:prstGeom prst="roundRect">
            <a:avLst>
              <a:gd name="adj" fmla="val 50000"/>
            </a:avLst>
          </a:prstGeom>
          <a:ln w="19050">
            <a:solidFill>
              <a:srgbClr val="E8A93C">
                <a:alpha val="6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78440" y="4480560"/>
            <a:ext cx="3291840" cy="3291840"/>
          </a:xfrm>
          <a:prstGeom prst="roundRect">
            <a:avLst>
              <a:gd name="adj" fmla="val 50000"/>
            </a:avLst>
          </a:prstGeom>
          <a:ln w="19050">
            <a:solidFill>
              <a:srgbClr val="1C7293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 ·  EXECUTIVE BRIEFING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9601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State Product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Proposition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85800" y="397764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7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our retail product suite stands today — and how we intend to show up in the market as a member-owned bank.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5212080"/>
            <a:ext cx="4937760" cy="658368"/>
          </a:xfrm>
          <a:prstGeom prst="roundRect">
            <a:avLst>
              <a:gd name="adj" fmla="val 50000"/>
            </a:avLst>
          </a:prstGeom>
          <a:solidFill>
            <a:srgbClr val="103A4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521208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 product suite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806440" y="5212080"/>
            <a:ext cx="4937760" cy="658368"/>
          </a:xfrm>
          <a:prstGeom prst="roundRect">
            <a:avLst>
              <a:gd name="adj" fmla="val 50000"/>
            </a:avLst>
          </a:prstGeom>
          <a:solidFill>
            <a:srgbClr val="103A4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89320" y="5212080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show up in the market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6172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&amp; Leadership Team  ·  [Month Year]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are, and where we're headed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2938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TODAY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2240280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sound but largely undifferentiated retail bank — competing on rate and feature parity, with a product suite that covers the basics.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0" y="214884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E8A93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1608" y="2306848"/>
            <a:ext cx="342351" cy="3423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720840" y="1783080"/>
            <a:ext cx="4892040" cy="1417320"/>
          </a:xfrm>
          <a:prstGeom prst="roundRect">
            <a:avLst>
              <a:gd name="adj" fmla="val 5806"/>
            </a:avLst>
          </a:prstGeom>
          <a:solidFill>
            <a:srgbClr val="0A2A38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720840" y="1783080"/>
            <a:ext cx="4892040" cy="1417320"/>
          </a:xfrm>
          <a:prstGeom prst="roundRect">
            <a:avLst>
              <a:gd name="adj" fmla="val 5806"/>
            </a:avLst>
          </a:prstGeom>
          <a:solidFill>
            <a:srgbClr val="0A2A38"/>
          </a:solidFill>
          <a:ln/>
        </p:spPr>
      </p:sp>
      <p:sp>
        <p:nvSpPr>
          <p:cNvPr id="11" name="Text 8"/>
          <p:cNvSpPr/>
          <p:nvPr/>
        </p:nvSpPr>
        <p:spPr>
          <a:xfrm>
            <a:off x="6949440" y="192938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HEADED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949440" y="2240280"/>
            <a:ext cx="4434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7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member-led bank with a complete, digitally-native suite and a proposition that is unmistakably ours — value returned to members, not extracted from them.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48640" y="361188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41248" y="3922776"/>
            <a:ext cx="713232" cy="713232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424" y="4093952"/>
            <a:ext cx="370881" cy="37088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737360" y="3758184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17" name="Text 13"/>
          <p:cNvSpPr/>
          <p:nvPr/>
        </p:nvSpPr>
        <p:spPr>
          <a:xfrm>
            <a:off x="859536" y="4846320"/>
            <a:ext cx="29626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frame the target state: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suite + market proposition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4398264" y="361188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90872" y="3922776"/>
            <a:ext cx="713232" cy="713232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048" y="4093952"/>
            <a:ext cx="370881" cy="37088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586984" y="3758184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22" name="Text 17"/>
          <p:cNvSpPr/>
          <p:nvPr/>
        </p:nvSpPr>
        <p:spPr>
          <a:xfrm>
            <a:off x="4709160" y="4846320"/>
            <a:ext cx="29626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types we serve across the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life-stage journey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247888" y="361188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540496" y="3922776"/>
            <a:ext cx="713232" cy="713232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672" y="4093952"/>
            <a:ext cx="370881" cy="370881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436608" y="3758184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27" name="Text 21"/>
          <p:cNvSpPr/>
          <p:nvPr/>
        </p:nvSpPr>
        <p:spPr>
          <a:xfrm>
            <a:off x="8558784" y="4846320"/>
            <a:ext cx="296265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horizons to move from vanilla</a:t>
            </a:r>
            <a:endParaRPr lang="en-US" sz="13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to a differentiated leader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deck as two connected elements: what our product suite must become, and how that suite lets us show up differently in the market.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elements, seen through two lenses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93976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2291486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874520" y="2404872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retail product suite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77824" y="31546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look like as a product house — the on-sale catalogue and how completely it serves each member type.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37960" y="178308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48856" y="2093976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6366" y="2291486"/>
            <a:ext cx="427939" cy="4279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86384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863840" y="2404872"/>
            <a:ext cx="3977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show up in the market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867144" y="31546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proposition — moving from vanilla, basic banking to a distinctive, member-owned point of view.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48640" y="4343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THROUGH TWO LENSES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4709160"/>
            <a:ext cx="5486400" cy="1234440"/>
          </a:xfrm>
          <a:prstGeom prst="roundRect">
            <a:avLst>
              <a:gd name="adj" fmla="val 6667"/>
            </a:avLst>
          </a:prstGeom>
          <a:solidFill>
            <a:srgbClr val="F2F7F9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500176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5155387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45920" y="491032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On-sale products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645920" y="5276088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catalogue as it stands — every product a member can buy today.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537960" y="4709160"/>
            <a:ext cx="5486400" cy="1234440"/>
          </a:xfrm>
          <a:prstGeom prst="roundRect">
            <a:avLst>
              <a:gd name="adj" fmla="val 6667"/>
            </a:avLst>
          </a:prstGeom>
          <a:solidFill>
            <a:srgbClr val="F2F7F9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812280" y="500176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899" y="5155387"/>
            <a:ext cx="332842" cy="33284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35240" y="491032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types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7635240" y="5276088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that catalogue serves each segment across their life stage.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38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1371600"/>
            <a:ext cx="4114800" cy="4114800"/>
          </a:xfrm>
          <a:prstGeom prst="roundRect">
            <a:avLst>
              <a:gd name="adj" fmla="val 50000"/>
            </a:avLst>
          </a:prstGeom>
          <a:ln w="19050">
            <a:solidFill>
              <a:srgbClr val="1C7293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965960"/>
            <a:ext cx="1051560" cy="1051560"/>
          </a:xfrm>
          <a:prstGeom prst="roundRect">
            <a:avLst>
              <a:gd name="adj" fmla="val 50000"/>
            </a:avLst>
          </a:prstGeom>
          <a:solidFill>
            <a:srgbClr val="103A4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174" y="2218334"/>
            <a:ext cx="546811" cy="5468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3246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E8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58368" y="361188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retail product suite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13232" y="48920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7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look like as a product house — the on-sale catalogue, and how completely it serves every member type.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 · THE PRODUCT SUITE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on-sale product catalogue today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member can buy from us right now, grouped by need. This is the starting point for the target state.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3872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176272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914" y="2356226"/>
            <a:ext cx="389900" cy="389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19072" y="2267712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banking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41248" y="3017520"/>
            <a:ext cx="29900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accounts · Offset · Debit &amp; digital wallet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07408" y="1920240"/>
            <a:ext cx="353872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81728" y="2176272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682" y="2356226"/>
            <a:ext cx="389900" cy="3899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77840" y="2267712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&amp; deposits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4700016" y="3017520"/>
            <a:ext cx="29900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saver · Term deposits · Kids &amp; goal saver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66176" y="1920240"/>
            <a:ext cx="353872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40496" y="2176272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0450" y="2356226"/>
            <a:ext cx="389900" cy="3899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436608" y="2267712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lending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8558784" y="3017520"/>
            <a:ext cx="29900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Owner-occupier · Investor · Construction · Guarantor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3977640"/>
            <a:ext cx="353872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22960" y="4233672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914" y="4413626"/>
            <a:ext cx="389900" cy="3899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719072" y="4325112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lending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841248" y="5074920"/>
            <a:ext cx="29900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&amp; car loans · Green / EV loan · Overdraft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4407408" y="3977640"/>
            <a:ext cx="353872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681728" y="4233672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1682" y="4413626"/>
            <a:ext cx="389900" cy="3899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577840" y="4325112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&amp; protection</a:t>
            </a:r>
            <a:endParaRPr lang="en-US" sz="1650" dirty="0"/>
          </a:p>
        </p:txBody>
      </p:sp>
      <p:sp>
        <p:nvSpPr>
          <p:cNvPr id="29" name="Text 22"/>
          <p:cNvSpPr/>
          <p:nvPr/>
        </p:nvSpPr>
        <p:spPr>
          <a:xfrm>
            <a:off x="4700016" y="5074920"/>
            <a:ext cx="29900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Low-rate &amp; rewards cards · Insurance · CCI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8266176" y="3977640"/>
            <a:ext cx="353872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540496" y="4233672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0450" y="4413626"/>
            <a:ext cx="389900" cy="38990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436608" y="4325112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&amp; servicing</a:t>
            </a:r>
            <a:endParaRPr lang="en-US" sz="1650" dirty="0"/>
          </a:p>
        </p:txBody>
      </p:sp>
      <p:sp>
        <p:nvSpPr>
          <p:cNvPr id="34" name="Text 26"/>
          <p:cNvSpPr/>
          <p:nvPr/>
        </p:nvSpPr>
        <p:spPr>
          <a:xfrm>
            <a:off x="8558784" y="5074920"/>
            <a:ext cx="299008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&amp; online banking · PayTo / Osko · Open banking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548640" y="6053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catalogue — replace category contents with the current on-sale product list.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 · THE PRODUCT SUITE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on the basics, thin at the edges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4343400"/>
          </a:xfrm>
          <a:prstGeom prst="roundRect">
            <a:avLst>
              <a:gd name="adj" fmla="val 1895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E4F1E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165299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08483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today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868680" y="28986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FA796"/>
          </a:solidFill>
          <a:ln/>
        </p:spPr>
      </p:sp>
      <p:sp>
        <p:nvSpPr>
          <p:cNvPr id="9" name="Text 6"/>
          <p:cNvSpPr/>
          <p:nvPr/>
        </p:nvSpPr>
        <p:spPr>
          <a:xfrm>
            <a:off x="1143000" y="278892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deposit and everyday banking products at competitive rates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36758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FA796"/>
          </a:solidFill>
          <a:ln/>
        </p:spPr>
      </p:sp>
      <p:sp>
        <p:nvSpPr>
          <p:cNvPr id="11" name="Text 8"/>
          <p:cNvSpPr/>
          <p:nvPr/>
        </p:nvSpPr>
        <p:spPr>
          <a:xfrm>
            <a:off x="1143000" y="356616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credible home-lending range for mainstream borrowers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68680" y="44531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FA796"/>
          </a:solidFill>
          <a:ln/>
        </p:spPr>
      </p:sp>
      <p:sp>
        <p:nvSpPr>
          <p:cNvPr id="13" name="Text 10"/>
          <p:cNvSpPr/>
          <p:nvPr/>
        </p:nvSpPr>
        <p:spPr>
          <a:xfrm>
            <a:off x="1143000" y="434340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banking parity for day-to-day servicing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68680" y="523036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FA796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" y="512064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Trusted, member-owned brand with high satisfaction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92240" y="1737360"/>
            <a:ext cx="5440680" cy="4343400"/>
          </a:xfrm>
          <a:prstGeom prst="roundRect">
            <a:avLst>
              <a:gd name="adj" fmla="val 1895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766560" y="20116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BEFD8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0179" y="2165299"/>
            <a:ext cx="332842" cy="33284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543800" y="208483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Gaps to close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6812280" y="289864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C4871F"/>
          </a:solidFill>
          <a:ln/>
        </p:spPr>
      </p:sp>
      <p:sp>
        <p:nvSpPr>
          <p:cNvPr id="21" name="Text 17"/>
          <p:cNvSpPr/>
          <p:nvPr/>
        </p:nvSpPr>
        <p:spPr>
          <a:xfrm>
            <a:off x="7086600" y="278892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Segment-specific products (first home buyer, small business) are limited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6812280" y="36758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C4871F"/>
          </a:solidFill>
          <a:ln/>
        </p:spPr>
      </p:sp>
      <p:sp>
        <p:nvSpPr>
          <p:cNvPr id="23" name="Text 19"/>
          <p:cNvSpPr/>
          <p:nvPr/>
        </p:nvSpPr>
        <p:spPr>
          <a:xfrm>
            <a:off x="7086600" y="356616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Wealth, advice and protection are referral-only, not integrated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6812280" y="44531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C4871F"/>
          </a:solidFill>
          <a:ln/>
        </p:spPr>
      </p:sp>
      <p:sp>
        <p:nvSpPr>
          <p:cNvPr id="25" name="Text 21"/>
          <p:cNvSpPr/>
          <p:nvPr/>
        </p:nvSpPr>
        <p:spPr>
          <a:xfrm>
            <a:off x="7086600" y="434340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/ values-based products are early and narrow</a:t>
            </a:r>
            <a:endParaRPr lang="en-US" sz="1350" dirty="0"/>
          </a:p>
        </p:txBody>
      </p:sp>
      <p:sp>
        <p:nvSpPr>
          <p:cNvPr id="26" name="Shape 22"/>
          <p:cNvSpPr/>
          <p:nvPr/>
        </p:nvSpPr>
        <p:spPr>
          <a:xfrm>
            <a:off x="6812280" y="523036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C4871F"/>
          </a:solidFill>
          <a:ln/>
        </p:spPr>
      </p:sp>
      <p:sp>
        <p:nvSpPr>
          <p:cNvPr id="27" name="Text 23"/>
          <p:cNvSpPr/>
          <p:nvPr/>
        </p:nvSpPr>
        <p:spPr>
          <a:xfrm>
            <a:off x="7086600" y="512064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and origination lag digital-first challengers</a:t>
            </a:r>
            <a:endParaRPr lang="en-US" sz="1350" dirty="0"/>
          </a:p>
        </p:txBody>
      </p:sp>
      <p:sp>
        <p:nvSpPr>
          <p:cNvPr id="28" name="Text 2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 · THE MEMBER LENS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member types we serve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catalogue must work across the whole life-stage journey. Each segment has a different centre of gravity.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093976" cy="356616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4148" y="23317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1658" y="2529230"/>
            <a:ext cx="427939" cy="42793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246120"/>
            <a:ext cx="20939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85800" y="3520440"/>
            <a:ext cx="18196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out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731520" y="4251960"/>
            <a:ext cx="172821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transactors &amp; savers building their first relationship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898648" y="2011680"/>
            <a:ext cx="2093976" cy="356616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34156" y="23317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1666" y="2529230"/>
            <a:ext cx="427939" cy="42793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98648" y="3246120"/>
            <a:ext cx="20939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035808" y="3520440"/>
            <a:ext cx="18196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home buyers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3081528" y="4251960"/>
            <a:ext cx="172821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Deposit-builders and new borrowers entering the market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248656" y="2011680"/>
            <a:ext cx="2093976" cy="356616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884164" y="23317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674" y="2529230"/>
            <a:ext cx="427939" cy="42793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48656" y="3246120"/>
            <a:ext cx="20939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385816" y="3520440"/>
            <a:ext cx="18196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&amp; builders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5431536" y="4251960"/>
            <a:ext cx="172821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owners growing wealth, borrowing and protecting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7598664" y="2011680"/>
            <a:ext cx="2093976" cy="356616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234172" y="23317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1682" y="2529230"/>
            <a:ext cx="427939" cy="427939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598664" y="3246120"/>
            <a:ext cx="20939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7735824" y="3520440"/>
            <a:ext cx="18196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members</a:t>
            </a:r>
            <a:endParaRPr lang="en-US" sz="1550" dirty="0"/>
          </a:p>
        </p:txBody>
      </p:sp>
      <p:sp>
        <p:nvSpPr>
          <p:cNvPr id="28" name="Text 22"/>
          <p:cNvSpPr/>
          <p:nvPr/>
        </p:nvSpPr>
        <p:spPr>
          <a:xfrm>
            <a:off x="7781544" y="4251960"/>
            <a:ext cx="172821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Pre-retirees consolidating, de-risking and advising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9948672" y="2011680"/>
            <a:ext cx="2093976" cy="3566160"/>
          </a:xfrm>
          <a:prstGeom prst="roundRect">
            <a:avLst>
              <a:gd name="adj" fmla="val 3930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0584180" y="2331720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1690" y="2529230"/>
            <a:ext cx="427939" cy="427939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948672" y="3246120"/>
            <a:ext cx="20939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10085832" y="3520440"/>
            <a:ext cx="18196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&amp; business</a:t>
            </a:r>
            <a:endParaRPr lang="en-US" sz="1550" dirty="0"/>
          </a:p>
        </p:txBody>
      </p:sp>
      <p:sp>
        <p:nvSpPr>
          <p:cNvPr id="34" name="Text 27"/>
          <p:cNvSpPr/>
          <p:nvPr/>
        </p:nvSpPr>
        <p:spPr>
          <a:xfrm>
            <a:off x="10131552" y="4251960"/>
            <a:ext cx="172821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Cause-aligned members and small-business owners</a:t>
            </a:r>
            <a:endParaRPr lang="en-US" sz="1150" dirty="0"/>
          </a:p>
        </p:txBody>
      </p:sp>
      <p:sp>
        <p:nvSpPr>
          <p:cNvPr id="35" name="Text 28"/>
          <p:cNvSpPr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segmentation — align to your member taxonomy.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 · SUITE × MEMBERS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completely the suite serves each member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148840" cy="658368"/>
          </a:xfrm>
          <a:prstGeom prst="rect">
            <a:avLst/>
          </a:prstGeom>
          <a:solidFill>
            <a:srgbClr val="0A2A3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37360"/>
            <a:ext cx="1965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need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697480" y="1737360"/>
            <a:ext cx="1783080" cy="658368"/>
          </a:xfrm>
          <a:prstGeom prst="rect">
            <a:avLst/>
          </a:prstGeom>
          <a:solidFill>
            <a:srgbClr val="0A2A3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97480" y="1737360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</a:t>
            </a:r>
            <a:endParaRPr lang="en-US" sz="110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80560" y="1737360"/>
            <a:ext cx="1783080" cy="658368"/>
          </a:xfrm>
          <a:prstGeom prst="rect">
            <a:avLst/>
          </a:prstGeom>
          <a:solidFill>
            <a:srgbClr val="0A2A3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37360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home</a:t>
            </a:r>
            <a:endParaRPr lang="en-US" sz="110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1783080" cy="658368"/>
          </a:xfrm>
          <a:prstGeom prst="rect">
            <a:avLst/>
          </a:prstGeom>
          <a:solidFill>
            <a:srgbClr val="0A2A3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737360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&amp;</a:t>
            </a:r>
            <a:endParaRPr lang="en-US" sz="110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1783080" cy="658368"/>
          </a:xfrm>
          <a:prstGeom prst="rect">
            <a:avLst/>
          </a:prstGeom>
          <a:solidFill>
            <a:srgbClr val="0A2A3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0" y="1737360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</a:t>
            </a:r>
            <a:endParaRPr lang="en-US" sz="110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829800" y="1737360"/>
            <a:ext cx="1783080" cy="658368"/>
          </a:xfrm>
          <a:prstGeom prst="rect">
            <a:avLst/>
          </a:prstGeom>
          <a:solidFill>
            <a:srgbClr val="0A2A3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29800" y="1737360"/>
            <a:ext cx="1783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10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business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395728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395728"/>
            <a:ext cx="1965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banking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395728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97480" y="23957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80560" y="2395728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0" y="23957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2395728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23957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6720" y="2395728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0" y="23957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829800" y="2395728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29800" y="23957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2907792"/>
            <a:ext cx="214884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2907792"/>
            <a:ext cx="1965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&amp; deposits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2907792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97480" y="2907792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80560" y="2907792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0" y="2907792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63640" y="2907792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63640" y="2907792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46720" y="2907792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46720" y="2907792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829800" y="2907792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29800" y="2907792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3419856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3419856"/>
            <a:ext cx="1965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lending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3419856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97480" y="3419856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Gap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480560" y="3419856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80560" y="3419856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263640" y="3419856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63640" y="3419856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46720" y="3419856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46720" y="3419856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9829800" y="3419856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829800" y="3419856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Gap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48640" y="3931920"/>
            <a:ext cx="214884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" y="3931920"/>
            <a:ext cx="1965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lending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3931920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97480" y="3931920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480560" y="3931920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480560" y="3931920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263640" y="3931920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263640" y="3931920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46720" y="3931920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046720" y="3931920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829800" y="3931920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829800" y="3931920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548640" y="4443984"/>
            <a:ext cx="21488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443984"/>
            <a:ext cx="1965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&amp; protection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2697480" y="4443984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697480" y="4443984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480560" y="4443984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480560" y="4443984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6263640" y="4443984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63640" y="4443984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46720" y="4443984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046720" y="4443984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Full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9829800" y="4443984"/>
            <a:ext cx="17830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29800" y="4443984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548640" y="4956048"/>
            <a:ext cx="214884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58368" y="4956048"/>
            <a:ext cx="1965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&amp; advice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2697480" y="4956048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697480" y="495604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Gap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4480560" y="4956048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480560" y="495604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Gap</a:t>
            </a:r>
            <a:endParaRPr lang="en-US" sz="1150" dirty="0"/>
          </a:p>
        </p:txBody>
      </p:sp>
      <p:sp>
        <p:nvSpPr>
          <p:cNvPr id="82" name="Shape 80"/>
          <p:cNvSpPr/>
          <p:nvPr/>
        </p:nvSpPr>
        <p:spPr>
          <a:xfrm>
            <a:off x="6263640" y="4956048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263640" y="495604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84" name="Shape 82"/>
          <p:cNvSpPr/>
          <p:nvPr/>
        </p:nvSpPr>
        <p:spPr>
          <a:xfrm>
            <a:off x="8046720" y="4956048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046720" y="495604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Partial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9829800" y="4956048"/>
            <a:ext cx="1783080" cy="512064"/>
          </a:xfrm>
          <a:prstGeom prst="rect">
            <a:avLst/>
          </a:prstGeom>
          <a:solidFill>
            <a:srgbClr val="E9F1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829800" y="495604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Gap</a:t>
            </a:r>
            <a:endParaRPr lang="en-US" sz="1150" dirty="0"/>
          </a:p>
        </p:txBody>
      </p:sp>
      <p:sp>
        <p:nvSpPr>
          <p:cNvPr id="88" name="Text 86"/>
          <p:cNvSpPr/>
          <p:nvPr/>
        </p:nvSpPr>
        <p:spPr>
          <a:xfrm>
            <a:off x="548640" y="572414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A7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pPr indent="0" marL="0">
              <a:buNone/>
            </a:pPr>
            <a:r>
              <a:rPr lang="en-US" sz="12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— competitive, integrated</a:t>
            </a:r>
            <a:endParaRPr lang="en-US" sz="1200" dirty="0"/>
          </a:p>
        </p:txBody>
      </p:sp>
      <p:sp>
        <p:nvSpPr>
          <p:cNvPr id="89" name="Text 87"/>
          <p:cNvSpPr/>
          <p:nvPr/>
        </p:nvSpPr>
        <p:spPr>
          <a:xfrm>
            <a:off x="4206240" y="572414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</a:t>
            </a:r>
            <a:pPr indent="0" marL="0">
              <a:buNone/>
            </a:pPr>
            <a:r>
              <a:rPr lang="en-US" sz="12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— exists but thin</a:t>
            </a:r>
            <a:endParaRPr lang="en-US" sz="1200" dirty="0"/>
          </a:p>
        </p:txBody>
      </p:sp>
      <p:sp>
        <p:nvSpPr>
          <p:cNvPr id="90" name="Text 88"/>
          <p:cNvSpPr/>
          <p:nvPr/>
        </p:nvSpPr>
        <p:spPr>
          <a:xfrm>
            <a:off x="7863840" y="572414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pPr indent="0" marL="0">
              <a:buNone/>
            </a:pPr>
            <a:r>
              <a:rPr lang="en-US" sz="12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— referral-only or absent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548640" y="608990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coverage assessment — replace with your product-to-segment mapping.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 · TARGET STATE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complete suite looks like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28600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" y="249448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33832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41248" y="3931920"/>
            <a:ext cx="2057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core need met in-house across all five member types — no structural gaps.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429000" y="196596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721608" y="228600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091" y="2494483"/>
            <a:ext cx="451714" cy="45171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21608" y="33832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Connected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3721608" y="3931920"/>
            <a:ext cx="2057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Wealth, advice and protection integrated into banking, not bolted on by referral.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309360" y="196596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601968" y="228600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451" y="2494483"/>
            <a:ext cx="451714" cy="45171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01968" y="33832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Digital-native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01968" y="3931920"/>
            <a:ext cx="2057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Originate, service and switch in-app, at parity with the best challengers.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9189720" y="196596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482328" y="228600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0811" y="2494483"/>
            <a:ext cx="451714" cy="45171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482328" y="33832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Purpose-built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482328" y="3931920"/>
            <a:ext cx="2057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Values-based and sustainable options that only a member-owned bank can lead on.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38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1371600"/>
            <a:ext cx="4114800" cy="4114800"/>
          </a:xfrm>
          <a:prstGeom prst="roundRect">
            <a:avLst>
              <a:gd name="adj" fmla="val 50000"/>
            </a:avLst>
          </a:prstGeom>
          <a:ln w="19050">
            <a:solidFill>
              <a:srgbClr val="1C7293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965960"/>
            <a:ext cx="1051560" cy="1051560"/>
          </a:xfrm>
          <a:prstGeom prst="roundRect">
            <a:avLst>
              <a:gd name="adj" fmla="val 50000"/>
            </a:avLst>
          </a:prstGeom>
          <a:solidFill>
            <a:srgbClr val="103A4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8174" y="2218334"/>
            <a:ext cx="546811" cy="5468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3246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E8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02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58368" y="361188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show up in the market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13232" y="48920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7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vanilla, basic banking to a distinctive, member-owned proposition — the second, differentiated view.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02 · THE MARKET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we show up as vanilla banking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53212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221992"/>
            <a:ext cx="356616" cy="3566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21408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commodity trap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68680" y="30266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E7885"/>
          </a:solidFill>
          <a:ln/>
        </p:spPr>
      </p:sp>
      <p:sp>
        <p:nvSpPr>
          <p:cNvPr id="9" name="Text 6"/>
          <p:cNvSpPr/>
          <p:nvPr/>
        </p:nvSpPr>
        <p:spPr>
          <a:xfrm>
            <a:off x="1143000" y="2926080"/>
            <a:ext cx="4709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compete on rate and fees — the same battleground as everyone else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375818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E7885"/>
          </a:solidFill>
          <a:ln/>
        </p:spPr>
      </p:sp>
      <p:sp>
        <p:nvSpPr>
          <p:cNvPr id="11" name="Text 8"/>
          <p:cNvSpPr/>
          <p:nvPr/>
        </p:nvSpPr>
        <p:spPr>
          <a:xfrm>
            <a:off x="1143000" y="3657600"/>
            <a:ext cx="4709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look interchangeable with the majors and challengers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68680" y="448970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E7885"/>
          </a:solidFill>
          <a:ln/>
        </p:spPr>
      </p:sp>
      <p:sp>
        <p:nvSpPr>
          <p:cNvPr id="13" name="Text 10"/>
          <p:cNvSpPr/>
          <p:nvPr/>
        </p:nvSpPr>
        <p:spPr>
          <a:xfrm>
            <a:off x="1143000" y="4389120"/>
            <a:ext cx="4709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member-owned difference is felt, but not expressed in the offer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868680" y="522122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5E7885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" y="5120640"/>
            <a:ext cx="4709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is driven by price comparison, not by what we stand for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0" y="1783080"/>
            <a:ext cx="5212080" cy="4206240"/>
          </a:xfrm>
          <a:prstGeom prst="roundRect">
            <a:avLst>
              <a:gd name="adj" fmla="val 1957"/>
            </a:avLst>
          </a:prstGeom>
          <a:solidFill>
            <a:srgbClr val="0A2A38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0" y="1783080"/>
            <a:ext cx="5212080" cy="4206240"/>
          </a:xfrm>
          <a:prstGeom prst="roundRect">
            <a:avLst>
              <a:gd name="adj" fmla="val 1957"/>
            </a:avLst>
          </a:prstGeom>
          <a:solidFill>
            <a:srgbClr val="0A2A38"/>
          </a:solidFill>
          <a:ln/>
        </p:spPr>
      </p:sp>
      <p:sp>
        <p:nvSpPr>
          <p:cNvPr id="18" name="Text 15"/>
          <p:cNvSpPr/>
          <p:nvPr/>
        </p:nvSpPr>
        <p:spPr>
          <a:xfrm>
            <a:off x="6766560" y="21031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66560" y="251460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“If a member can't tell us apart from a big-four product page, we compete only on price — and a mutual can't win a race to the bottom.”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6766560" y="434340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7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banking commoditises our balance sheet, erodes margin, and leaves our purpose invisible at the point of choice.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02 · THE SECOND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show up — the choice we're making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548640"/>
          </a:xfrm>
          <a:prstGeom prst="rect">
            <a:avLst/>
          </a:prstGeom>
          <a:solidFill>
            <a:srgbClr val="F2F7F9"/>
          </a:solidFill>
          <a:ln/>
        </p:spPr>
      </p:sp>
      <p:sp>
        <p:nvSpPr>
          <p:cNvPr id="5" name="Shape 3"/>
          <p:cNvSpPr/>
          <p:nvPr/>
        </p:nvSpPr>
        <p:spPr>
          <a:xfrm>
            <a:off x="3291840" y="1828800"/>
            <a:ext cx="4160520" cy="548640"/>
          </a:xfrm>
          <a:prstGeom prst="rect">
            <a:avLst/>
          </a:prstGeom>
          <a:solidFill>
            <a:srgbClr val="8FA3A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91840" y="1828800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banking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52360" y="1828800"/>
            <a:ext cx="4160520" cy="548640"/>
          </a:xfrm>
          <a:prstGeom prst="rect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52360" y="1828800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differentiated 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377440"/>
            <a:ext cx="2651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of choice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91840" y="2377440"/>
            <a:ext cx="4160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2377440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&amp; fees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452360" y="2377440"/>
            <a:ext cx="4160520" cy="713232"/>
          </a:xfrm>
          <a:prstGeom prst="rect">
            <a:avLst/>
          </a:prstGeom>
          <a:solidFill>
            <a:srgbClr val="EAF4F6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0" y="2377440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&amp; values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090672"/>
            <a:ext cx="2651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framing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3090672"/>
            <a:ext cx="4160520" cy="713232"/>
          </a:xfrm>
          <a:prstGeom prst="rect">
            <a:avLst/>
          </a:prstGeom>
          <a:solidFill>
            <a:srgbClr val="EDF2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0440" y="3090672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checklists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52360" y="3090672"/>
            <a:ext cx="4160520" cy="713232"/>
          </a:xfrm>
          <a:prstGeom prst="rect">
            <a:avLst/>
          </a:prstGeom>
          <a:solidFill>
            <a:srgbClr val="E1EEF1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3090672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outcomes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3803904"/>
            <a:ext cx="2651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91840" y="3803904"/>
            <a:ext cx="4160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0440" y="3803904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52360" y="3803904"/>
            <a:ext cx="4160520" cy="713232"/>
          </a:xfrm>
          <a:prstGeom prst="rect">
            <a:avLst/>
          </a:prstGeom>
          <a:solidFill>
            <a:srgbClr val="EAF4F6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80960" y="3803904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&amp; advised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94360" y="4517136"/>
            <a:ext cx="2651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story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4517136"/>
            <a:ext cx="4160520" cy="713232"/>
          </a:xfrm>
          <a:prstGeom prst="rect">
            <a:avLst/>
          </a:prstGeom>
          <a:solidFill>
            <a:srgbClr val="EDF2F4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20440" y="4517136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for shareholders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452360" y="4517136"/>
            <a:ext cx="4160520" cy="713232"/>
          </a:xfrm>
          <a:prstGeom prst="rect">
            <a:avLst/>
          </a:prstGeom>
          <a:solidFill>
            <a:srgbClr val="E1EEF1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80960" y="4517136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to members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94360" y="5230368"/>
            <a:ext cx="2651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role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5230368"/>
            <a:ext cx="41605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20440" y="5230368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 utility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452360" y="5230368"/>
            <a:ext cx="4160520" cy="713232"/>
          </a:xfrm>
          <a:prstGeom prst="rect">
            <a:avLst/>
          </a:prstGeom>
          <a:solidFill>
            <a:srgbClr val="EAF4F6"/>
          </a:solidFill>
          <a:ln w="12700">
            <a:solidFill>
              <a:srgbClr val="D8E4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80960" y="5230368"/>
            <a:ext cx="3794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with a point of view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products can sit behind either column. The difference is the proposition we wrap around them.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02 · TARGET STATE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proposition that is unmistakably ours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3657600"/>
          </a:xfrm>
          <a:prstGeom prst="roundRect">
            <a:avLst>
              <a:gd name="adj" fmla="val 3158"/>
            </a:avLst>
          </a:prstGeom>
          <a:solidFill>
            <a:srgbClr val="0A2A38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65960"/>
            <a:ext cx="2606040" cy="3657600"/>
          </a:xfrm>
          <a:prstGeom prst="roundRect">
            <a:avLst>
              <a:gd name="adj" fmla="val 3158"/>
            </a:avLst>
          </a:prstGeom>
          <a:solidFill>
            <a:srgbClr val="0A2A38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28600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103A4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" y="2494483"/>
            <a:ext cx="451714" cy="45171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33832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 value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41248" y="393192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Profits returned as better rates, lower fees and shared rewards — the mutual dividend, made visible.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429000" y="1965960"/>
            <a:ext cx="2606040" cy="36576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21608" y="228600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091" y="2494483"/>
            <a:ext cx="451714" cy="45171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21608" y="33832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Trusted advice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3721608" y="393192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across life stages, not just product sales — banking that acts in the member's interest.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309360" y="1965960"/>
            <a:ext cx="2606040" cy="36576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601968" y="228600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451" y="2494483"/>
            <a:ext cx="451714" cy="45171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01968" y="33832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 &amp; community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6601968" y="393192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Values-aligned lending and local impact that members can see and feel proud of.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189720" y="1965960"/>
            <a:ext cx="2606040" cy="36576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482328" y="228600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0811" y="2494483"/>
            <a:ext cx="451714" cy="45171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482328" y="3383280"/>
            <a:ext cx="2057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Effortless service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9482328" y="393192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when it matters, digital when it's faster — a relationship, not a call queue.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IT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 state on a page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84832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282342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116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01   </a:t>
            </a:r>
            <a:pPr indent="0" marL="0">
              <a:buNone/>
            </a:pPr>
            <a:r>
              <a:rPr lang="en-US" sz="1600" b="1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connected suite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450592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core need served in-house across all five member types — complete, connected, digital-native and purpose-built. Gaps in wealth, advice, protection and segment products are closed.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806440" y="3493008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E8A93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7141" y="3613709"/>
            <a:ext cx="261518" cy="26151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114800"/>
            <a:ext cx="11064240" cy="1600200"/>
          </a:xfrm>
          <a:prstGeom prst="roundRect">
            <a:avLst>
              <a:gd name="adj" fmla="val 5143"/>
            </a:avLst>
          </a:prstGeom>
          <a:solidFill>
            <a:srgbClr val="0A2A38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48640" y="4114800"/>
            <a:ext cx="11064240" cy="1600200"/>
          </a:xfrm>
          <a:prstGeom prst="roundRect">
            <a:avLst>
              <a:gd name="adj" fmla="val 5143"/>
            </a:avLst>
          </a:prstGeom>
          <a:solidFill>
            <a:srgbClr val="0A2A38"/>
          </a:solidFill>
          <a:ln/>
        </p:spPr>
      </p:sp>
      <p:sp>
        <p:nvSpPr>
          <p:cNvPr id="13" name="Shape 9"/>
          <p:cNvSpPr/>
          <p:nvPr/>
        </p:nvSpPr>
        <p:spPr>
          <a:xfrm>
            <a:off x="822960" y="4416552"/>
            <a:ext cx="822960" cy="822960"/>
          </a:xfrm>
          <a:prstGeom prst="roundRect">
            <a:avLst>
              <a:gd name="adj" fmla="val 50000"/>
            </a:avLst>
          </a:prstGeom>
          <a:solidFill>
            <a:srgbClr val="103A4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4614062"/>
            <a:ext cx="427939" cy="42793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783080" y="43434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8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02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proposition that is unmistakably ours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1783080" y="4782312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7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 competing on rate alone and show up on member value, trusted advice, purpose and effortless service — the mutual difference, made visible at the point of choice.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E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suite gives us the right to compete; a distinctive proposition is why members choose us.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horizons to get there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38728" cy="388620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2286000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0–12 MONTHS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9536" y="2532888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59536" y="301752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3226003"/>
            <a:ext cx="451714" cy="45171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59536" y="4069080"/>
            <a:ext cx="2990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the basics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59536" y="4617720"/>
            <a:ext cx="299008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core on-sale suite, close obvious segment gaps, reach digital origination parity.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218688" y="2194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8E4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4407408" y="1965960"/>
            <a:ext cx="3538728" cy="388620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718304" y="2286000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48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12–24 MONTHS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718304" y="2532888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2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718304" y="301752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787" y="3226003"/>
            <a:ext cx="451714" cy="45171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718304" y="4069080"/>
            <a:ext cx="2990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Differentiate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4718304" y="4617720"/>
            <a:ext cx="299008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wealth, advice &amp; protection; launch member-value and segment-led propositions.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7077456" y="2194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8E4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20" name="Shape 16"/>
          <p:cNvSpPr/>
          <p:nvPr/>
        </p:nvSpPr>
        <p:spPr>
          <a:xfrm>
            <a:off x="8266176" y="1965960"/>
            <a:ext cx="3538728" cy="388620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E4E9"/>
            </a:solidFill>
            <a:prstDash val="solid"/>
          </a:ln>
          <a:effectLst>
            <a:outerShdw sx="100000" sy="100000" kx="0" ky="0" algn="bl" rotWithShape="0" blurRad="88900" dist="38100" dir="5400000">
              <a:srgbClr val="9FB4BD">
                <a:alpha val="28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8577072" y="2286000"/>
            <a:ext cx="29900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MONTHS +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8577072" y="2532888"/>
            <a:ext cx="29900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3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8577072" y="3017520"/>
            <a:ext cx="868680" cy="868680"/>
          </a:xfrm>
          <a:prstGeom prst="roundRect">
            <a:avLst>
              <a:gd name="adj" fmla="val 50000"/>
            </a:avLst>
          </a:prstGeom>
          <a:solidFill>
            <a:srgbClr val="F2F7F9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5555" y="3226003"/>
            <a:ext cx="451714" cy="45171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577072" y="4069080"/>
            <a:ext cx="2990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</a:t>
            </a:r>
            <a:endParaRPr lang="en-US" sz="2200" dirty="0"/>
          </a:p>
        </p:txBody>
      </p:sp>
      <p:sp>
        <p:nvSpPr>
          <p:cNvPr id="26" name="Text 21"/>
          <p:cNvSpPr/>
          <p:nvPr/>
        </p:nvSpPr>
        <p:spPr>
          <a:xfrm>
            <a:off x="8577072" y="4617720"/>
            <a:ext cx="299008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Purpose-led, ecosystem-enabled banking where the member-owned model is our edge at scale.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10936224" y="2194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8E4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8" name="Text 23"/>
          <p:cNvSpPr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sequencing — confirm scope and timing with the executive team.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8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38"/>
          </a:solidFill>
          <a:ln/>
        </p:spPr>
      </p:sp>
      <p:sp>
        <p:nvSpPr>
          <p:cNvPr id="3" name="Shape 1"/>
          <p:cNvSpPr/>
          <p:nvPr/>
        </p:nvSpPr>
        <p:spPr>
          <a:xfrm>
            <a:off x="9052560" y="3108960"/>
            <a:ext cx="4572000" cy="4572000"/>
          </a:xfrm>
          <a:prstGeom prst="roundRect">
            <a:avLst>
              <a:gd name="adj" fmla="val 50000"/>
            </a:avLst>
          </a:prstGeom>
          <a:ln w="19050">
            <a:solidFill>
              <a:srgbClr val="1C7293">
                <a:alpha val="4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8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 OF LEADERS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 the shift from vanilla to distinctive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58368" y="2651760"/>
            <a:ext cx="3566160" cy="2514600"/>
          </a:xfrm>
          <a:prstGeom prst="roundRect">
            <a:avLst>
              <a:gd name="adj" fmla="val 3273"/>
            </a:avLst>
          </a:prstGeom>
          <a:solidFill>
            <a:srgbClr val="103A4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37033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Endorse the two-element target state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443484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7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product suite and a differentiated, member-owned proposition.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98848" y="2651760"/>
            <a:ext cx="3566160" cy="2514600"/>
          </a:xfrm>
          <a:prstGeom prst="roundRect">
            <a:avLst>
              <a:gd name="adj" fmla="val 3273"/>
            </a:avLst>
          </a:prstGeom>
          <a:solidFill>
            <a:srgbClr val="103A4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73168" y="37033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closing the gaps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73168" y="443484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7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the Horizon 1 moves that bring the on-sale suite to completeness.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339328" y="2651760"/>
            <a:ext cx="3566160" cy="2514600"/>
          </a:xfrm>
          <a:prstGeom prst="roundRect">
            <a:avLst>
              <a:gd name="adj" fmla="val 3273"/>
            </a:avLst>
          </a:prstGeom>
          <a:solidFill>
            <a:srgbClr val="103A4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13648" y="37033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the proposition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13648" y="443484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7D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to compete on member value, not just rate — across every segment.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32688" y="294436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A2A38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" y="3097987"/>
            <a:ext cx="332842" cy="33284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3447288" y="29077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E55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Shape 15"/>
          <p:cNvSpPr/>
          <p:nvPr/>
        </p:nvSpPr>
        <p:spPr>
          <a:xfrm>
            <a:off x="4773168" y="294436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A2A38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787" y="3097987"/>
            <a:ext cx="332842" cy="33284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287768" y="29077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E55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613648" y="2944368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A2A38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7267" y="3097987"/>
            <a:ext cx="332842" cy="33284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128248" y="29077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E55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4" name="Text 19"/>
          <p:cNvSpPr/>
          <p:nvPr/>
        </p:nvSpPr>
        <p:spPr>
          <a:xfrm>
            <a:off x="685800" y="5623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8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suite earns us the right to compete. The proposition is why members choose us — and stay.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[Bank Name]  ·  Target State Product &amp; Proposition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F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2026-07-27T02:14:46Z</dcterms:created>
  <dcterms:modified xsi:type="dcterms:W3CDTF">2026-07-27T02:14:46Z</dcterms:modified>
</cp:coreProperties>
</file>